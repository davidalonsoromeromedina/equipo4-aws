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Presentar al equipo y el tema en una frase: AWS es donde se publica la API que ya construimos, junto con MySQL, los archivos y el despliegue. Tiempo: 30 segundos. No leer los nombres despacio.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Decir que estas seis partes son el borrador de la exposición. El detalle está en el reporte. Tiempo: 40 segundos.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no es escribir otra API. El problema es publicarla: que siga disponible, que el archivo no viva en la tabla y que se pueda sumar otra copia del proceso. AWS vende esa infraestructura desde 2006, con pago por uso.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Nombrar las cuatro piezas y decir que el resto del catálogo, más de 200 servicios, no hace falta para esta API. Tiempo: 50 segundos.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Fargate corre el contenedor sin que el equipo parche una máquina virtual. Express Mode es la forma actual de publicar una API HTTP con esa imagen. App Runner se parece, pero ya no acepta clientes nuevos: la guía de AWS recomienda Express Mode.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Insistir: sigue siendo MySQL. Cambia quién administra el motor. RDS no deja entrar al sistema operativo. La base queda en subred privada y solo la API, por su security group, llega al puerto 3306.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objeto de S3 es el archivo más sus metadatos, dentro de un bucket, con una clave. El bucket es privado por defecto y el bloqueo de acceso público viene encendido. La fila solo guarda la clave. Tiempo: 50 segundos.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mezclar las dos puertas. El token autoriza el caso de uso. El rol de IAM autoriza a la plataforma y no tiene contraseña permanente. GraphQL, si sale en preguntas, define cómo se piden los datos; AWS define dónde corre quien responde.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los cinco pasos sin entrar a clics de consola. Remarcar el último: borrar. Un recurso que sigue existiendo puede generar cargo.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Contar el caso en voz alta: el cliente manda el ingreso, la API valida el token, la fila va a RDS y el PDF a S3. El GET no mete el binario en el JSON. Aclarar que es un ejemplo, no un cambio al sistema del curso. Tiempo: 1 minuto 20 segundos.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Señalar el dibujo de arriba hacia abajo y después a los dos almacenes. Cerrar con la frase: IAM solo deja que esta API escriba en ese bucket, y el security group solo deja que esta API llegue a MySQL. Tiempo: 40 segundos.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GraphQL queda para una pregunta: define la forma de la consulta. AWS define dónde corre el proceso. No compiten.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SQL y el Dockerfile se conservan. Lo nuevo es el lugar donde corren. Tiempo: 40 segundos.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inventar precios por hora. El plan gratuito de una cuenta nueva da créditos, hasta 200 USD, y cierra a los seis meses o al acabarse. No autoriza a dejar la base encendida. La seguridad también se reparte: AWS cuida el centro de datos; el equipo cuida el security group, el bucket y las contraseñas. Tiempo: 1 minuto.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bloque de costo con el criterio: AWS entra cuando el servidor ya está escrito y hay que publicarlo. Tiempo: 50 segundos.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reproducir el video completo si el tiempo está justo: son casi tres minutos. Decir qué se ve y dejar el enlace. El video corto despliega una app Flask en Elastic Beanstalk, con DynamoDB, no con MySQL. El video What is AWS es el que cita el whitepaper oficial y dura 3 minutos 11 segundos. Tiempo hablando: 40 segundos.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leer las URL. Decir que todas las fuentes son documentación de AWS y que el reporte trae la lista completa, con IAM, el modelo de responsabilidad compartida, el plan gratuito y los dos videos. Cerrar con la frase de la parte baja y abrir preguntas. Tiempo: 30 segundos.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rsg4YI4mljg" TargetMode="External"/><Relationship Id="rId3" Type="http://schemas.openxmlformats.org/officeDocument/2006/relationships/hyperlink" Target="https://www.youtube.com/watch?v=a9__D53WsUs"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aws.amazon.com/whitepapers/latest/aws-overview/what-is-cloud-computing.html" TargetMode="External"/><Relationship Id="rId3" Type="http://schemas.openxmlformats.org/officeDocument/2006/relationships/hyperlink" Target="https://docs.aws.amazon.com/AmazonRDS/latest/UserGuide/CHAP_MySQL.html" TargetMode="External"/><Relationship Id="rId4" Type="http://schemas.openxmlformats.org/officeDocument/2006/relationships/hyperlink" Target="https://docs.aws.amazon.com/AmazonS3/latest/userguide/Welcome.html" TargetMode="External"/><Relationship Id="rId5" Type="http://schemas.openxmlformats.org/officeDocument/2006/relationships/hyperlink" Target="https://docs.aws.amazon.com/AmazonECS/latest/developerguide/express-service-overview.html" TargetMode="External"/><Relationship Id="rId6"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84048"/>
            <a:ext cx="10515600" cy="310896"/>
          </a:xfrm>
          <a:prstGeom prst="rect">
            <a:avLst/>
          </a:prstGeom>
          <a:noFill/>
        </p:spPr>
        <p:txBody>
          <a:bodyPr wrap="square" lIns="0" rIns="0" tIns="0" bIns="0"/>
          <a:lstStyle/>
          <a:p>
            <a:pPr algn="l">
              <a:spcBef>
                <a:spcPts val="0"/>
              </a:spcBef>
              <a:spcAft>
                <a:spcPts val="0"/>
              </a:spcAft>
            </a:pPr>
            <a:r>
              <a:rPr sz="1400" b="1" i="0" u="none">
                <a:solidFill>
                  <a:srgbClr val="E87A00"/>
                </a:solidFill>
                <a:latin typeface="Calibri"/>
                <a:ea typeface="Calibri"/>
                <a:cs typeface="Calibri"/>
              </a:rPr>
              <a:t>UNIDAD II   ·   UNA HERRAMIENTA DE BACKEND</a:t>
            </a:r>
          </a:p>
        </p:txBody>
      </p:sp>
      <p:sp>
        <p:nvSpPr>
          <p:cNvPr id="5" name="TextBox 4"/>
          <p:cNvSpPr txBox="1"/>
          <p:nvPr/>
        </p:nvSpPr>
        <p:spPr>
          <a:xfrm>
            <a:off x="685800" y="1234440"/>
            <a:ext cx="10789920" cy="1234440"/>
          </a:xfrm>
          <a:prstGeom prst="rect">
            <a:avLst/>
          </a:prstGeom>
          <a:noFill/>
        </p:spPr>
        <p:txBody>
          <a:bodyPr wrap="square" lIns="0" rIns="0" tIns="0" bIns="0"/>
          <a:lstStyle/>
          <a:p>
            <a:pPr algn="l">
              <a:spcBef>
                <a:spcPts val="0"/>
              </a:spcBef>
              <a:spcAft>
                <a:spcPts val="0"/>
              </a:spcAft>
            </a:pPr>
            <a:r>
              <a:rPr sz="8000" b="1" i="0" u="none">
                <a:solidFill>
                  <a:srgbClr val="FFFFFF"/>
                </a:solidFill>
                <a:latin typeface="Calibri"/>
                <a:ea typeface="Calibri"/>
                <a:cs typeface="Calibri"/>
              </a:rPr>
              <a:t>AWS</a:t>
            </a:r>
          </a:p>
        </p:txBody>
      </p:sp>
      <p:sp>
        <p:nvSpPr>
          <p:cNvPr id="6" name="TextBox 5"/>
          <p:cNvSpPr txBox="1"/>
          <p:nvPr/>
        </p:nvSpPr>
        <p:spPr>
          <a:xfrm>
            <a:off x="685800" y="2606040"/>
            <a:ext cx="10241280" cy="1234440"/>
          </a:xfrm>
          <a:prstGeom prst="rect">
            <a:avLst/>
          </a:prstGeom>
          <a:noFill/>
        </p:spPr>
        <p:txBody>
          <a:bodyPr wrap="square" lIns="0" rIns="0" tIns="0" bIns="0"/>
          <a:lstStyle/>
          <a:p>
            <a:pPr algn="l">
              <a:spcBef>
                <a:spcPts val="0"/>
              </a:spcBef>
              <a:spcAft>
                <a:spcPts val="0"/>
              </a:spcAft>
            </a:pPr>
            <a:r>
              <a:rPr sz="2800" b="0" i="0" u="none">
                <a:solidFill>
                  <a:srgbClr val="FFFFFF"/>
                </a:solidFill>
                <a:latin typeface="Calibri"/>
                <a:ea typeface="Calibri"/>
                <a:cs typeface="Calibri"/>
              </a:rPr>
              <a:t>Servicios en la nube para correr la API,</a:t>
            </a:r>
          </a:p>
          <a:p>
            <a:pPr algn="l">
              <a:spcBef>
                <a:spcPts val="0"/>
              </a:spcBef>
              <a:spcAft>
                <a:spcPts val="0"/>
              </a:spcAft>
            </a:pPr>
            <a:r>
              <a:rPr sz="2800" b="0" i="0" u="none">
                <a:solidFill>
                  <a:srgbClr val="FFFFFF"/>
                </a:solidFill>
                <a:latin typeface="Calibri"/>
                <a:ea typeface="Calibri"/>
                <a:cs typeface="Calibri"/>
              </a:rPr>
              <a:t>la base, los archivos y el despliegue</a:t>
            </a:r>
          </a:p>
        </p:txBody>
      </p:sp>
      <p:sp>
        <p:nvSpPr>
          <p:cNvPr id="7" name="Rectangle 6"/>
          <p:cNvSpPr/>
          <p:nvPr/>
        </p:nvSpPr>
        <p:spPr>
          <a:xfrm>
            <a:off x="685800" y="4023360"/>
            <a:ext cx="1920240" cy="54864"/>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251960"/>
            <a:ext cx="10058400" cy="365760"/>
          </a:xfrm>
          <a:prstGeom prst="rect">
            <a:avLst/>
          </a:prstGeom>
          <a:noFill/>
        </p:spPr>
        <p:txBody>
          <a:bodyPr wrap="square" lIns="0" rIns="0" tIns="0" bIns="0"/>
          <a:lstStyle/>
          <a:p>
            <a:pPr algn="l">
              <a:spcBef>
                <a:spcPts val="0"/>
              </a:spcBef>
              <a:spcAft>
                <a:spcPts val="0"/>
              </a:spcAft>
            </a:pPr>
            <a:r>
              <a:rPr sz="2200" b="1" i="0" u="none">
                <a:solidFill>
                  <a:srgbClr val="FFFFFF"/>
                </a:solidFill>
                <a:latin typeface="Calibri"/>
                <a:ea typeface="Calibri"/>
                <a:cs typeface="Calibri"/>
              </a:rPr>
              <a:t>Equipo 4</a:t>
            </a:r>
          </a:p>
        </p:txBody>
      </p:sp>
      <p:sp>
        <p:nvSpPr>
          <p:cNvPr id="9" name="TextBox 8"/>
          <p:cNvSpPr txBox="1"/>
          <p:nvPr/>
        </p:nvSpPr>
        <p:spPr>
          <a:xfrm>
            <a:off x="685800" y="4709160"/>
            <a:ext cx="10241280" cy="1051560"/>
          </a:xfrm>
          <a:prstGeom prst="rect">
            <a:avLst/>
          </a:prstGeom>
          <a:noFill/>
        </p:spPr>
        <p:txBody>
          <a:bodyPr wrap="square" lIns="0" rIns="0" tIns="0" bIns="0"/>
          <a:lstStyle/>
          <a:p>
            <a:pPr algn="l">
              <a:spcBef>
                <a:spcPts val="0"/>
              </a:spcBef>
              <a:spcAft>
                <a:spcPts val="0"/>
              </a:spcAft>
            </a:pPr>
            <a:r>
              <a:rPr sz="1800" b="0" i="0" u="none">
                <a:solidFill>
                  <a:srgbClr val="E6EBF0"/>
                </a:solidFill>
                <a:latin typeface="Calibri"/>
                <a:ea typeface="Calibri"/>
                <a:cs typeface="Calibri"/>
              </a:rPr>
              <a:t>David Alonso Romero Medina</a:t>
            </a:r>
          </a:p>
          <a:p>
            <a:pPr algn="l">
              <a:spcBef>
                <a:spcPts val="0"/>
              </a:spcBef>
              <a:spcAft>
                <a:spcPts val="0"/>
              </a:spcAft>
            </a:pPr>
            <a:r>
              <a:rPr sz="1800" b="0" i="0" u="none">
                <a:solidFill>
                  <a:srgbClr val="E6EBF0"/>
                </a:solidFill>
                <a:latin typeface="Calibri"/>
                <a:ea typeface="Calibri"/>
                <a:cs typeface="Calibri"/>
              </a:rPr>
              <a:t>Roberto Balmes Solis</a:t>
            </a:r>
          </a:p>
          <a:p>
            <a:pPr algn="l">
              <a:spcBef>
                <a:spcPts val="0"/>
              </a:spcBef>
              <a:spcAft>
                <a:spcPts val="0"/>
              </a:spcAft>
            </a:pPr>
            <a:r>
              <a:rPr sz="1800" b="0" i="0" u="none">
                <a:solidFill>
                  <a:srgbClr val="E6EBF0"/>
                </a:solidFill>
                <a:latin typeface="Calibri"/>
                <a:ea typeface="Calibri"/>
                <a:cs typeface="Calibri"/>
              </a:rPr>
              <a:t>Luis Enrique Ramos Díaz</a:t>
            </a:r>
          </a:p>
        </p:txBody>
      </p:sp>
      <p:sp>
        <p:nvSpPr>
          <p:cNvPr id="10" name="TextBox 9"/>
          <p:cNvSpPr txBox="1"/>
          <p:nvPr/>
        </p:nvSpPr>
        <p:spPr>
          <a:xfrm>
            <a:off x="685800" y="5943600"/>
            <a:ext cx="10241280" cy="365760"/>
          </a:xfrm>
          <a:prstGeom prst="rect">
            <a:avLst/>
          </a:prstGeom>
          <a:noFill/>
        </p:spPr>
        <p:txBody>
          <a:bodyPr wrap="square" lIns="0" rIns="0" tIns="0" bIns="0"/>
          <a:lstStyle/>
          <a:p>
            <a:pPr algn="l">
              <a:spcBef>
                <a:spcPts val="0"/>
              </a:spcBef>
              <a:spcAft>
                <a:spcPts val="0"/>
              </a:spcAft>
            </a:pPr>
            <a:r>
              <a:rPr sz="1400" b="0" i="0" u="none">
                <a:solidFill>
                  <a:srgbClr val="B7C2CC"/>
                </a:solidFill>
                <a:latin typeface="Calibri"/>
                <a:ea typeface="Calibri"/>
                <a:cs typeface="Calibri"/>
              </a:rPr>
              <a:t>Fundamentos de Arquitectura de Software y Desarrollo Backend   ·   26 de octubre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HOJA DE RUTA</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Orden de la exposición</a:t>
            </a:r>
          </a:p>
        </p:txBody>
      </p:sp>
      <p:sp>
        <p:nvSpPr>
          <p:cNvPr id="6" name="Rounded Rectangle 5"/>
          <p:cNvSpPr/>
          <p:nvPr/>
        </p:nvSpPr>
        <p:spPr>
          <a:xfrm>
            <a:off x="502920" y="1965960"/>
            <a:ext cx="3611880" cy="173736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800" b="1" i="0" u="none">
                <a:solidFill>
                  <a:srgbClr val="E87A00"/>
                </a:solidFill>
                <a:latin typeface="Calibri"/>
                <a:ea typeface="Calibri"/>
                <a:cs typeface="Calibri"/>
              </a:rPr>
              <a:t>1</a:t>
            </a:r>
          </a:p>
          <a:p>
            <a:pPr algn="ctr">
              <a:spcBef>
                <a:spcPts val="600"/>
              </a:spcBef>
              <a:spcAft>
                <a:spcPts val="0"/>
              </a:spcAft>
            </a:pPr>
            <a:r>
              <a:rPr sz="2600" b="1" i="0" u="none">
                <a:solidFill>
                  <a:srgbClr val="1B2838"/>
                </a:solidFill>
                <a:latin typeface="Calibri"/>
                <a:ea typeface="Calibri"/>
                <a:cs typeface="Calibri"/>
              </a:rPr>
              <a:t>Problema</a:t>
            </a:r>
          </a:p>
          <a:p>
            <a:pPr algn="ctr">
              <a:spcBef>
                <a:spcPts val="400"/>
              </a:spcBef>
              <a:spcAft>
                <a:spcPts val="0"/>
              </a:spcAft>
            </a:pPr>
            <a:r>
              <a:rPr sz="1500" b="0" i="0" u="none">
                <a:solidFill>
                  <a:srgbClr val="3E4A57"/>
                </a:solidFill>
                <a:latin typeface="Calibri"/>
                <a:ea typeface="Calibri"/>
                <a:cs typeface="Calibri"/>
              </a:rPr>
              <a:t>Por qué la laptop no alcanza</a:t>
            </a:r>
          </a:p>
        </p:txBody>
      </p:sp>
      <p:sp>
        <p:nvSpPr>
          <p:cNvPr id="7" name="Rounded Rectangle 6"/>
          <p:cNvSpPr/>
          <p:nvPr/>
        </p:nvSpPr>
        <p:spPr>
          <a:xfrm>
            <a:off x="4343400" y="1965960"/>
            <a:ext cx="3611880" cy="173736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800" b="1" i="0" u="none">
                <a:solidFill>
                  <a:srgbClr val="E87A00"/>
                </a:solidFill>
                <a:latin typeface="Calibri"/>
                <a:ea typeface="Calibri"/>
                <a:cs typeface="Calibri"/>
              </a:rPr>
              <a:t>2</a:t>
            </a:r>
          </a:p>
          <a:p>
            <a:pPr algn="ctr">
              <a:spcBef>
                <a:spcPts val="600"/>
              </a:spcBef>
              <a:spcAft>
                <a:spcPts val="0"/>
              </a:spcAft>
            </a:pPr>
            <a:r>
              <a:rPr sz="2600" b="1" i="0" u="none">
                <a:solidFill>
                  <a:srgbClr val="1B2838"/>
                </a:solidFill>
                <a:latin typeface="Calibri"/>
                <a:ea typeface="Calibri"/>
                <a:cs typeface="Calibri"/>
              </a:rPr>
              <a:t>Piezas</a:t>
            </a:r>
          </a:p>
          <a:p>
            <a:pPr algn="ctr">
              <a:spcBef>
                <a:spcPts val="400"/>
              </a:spcBef>
              <a:spcAft>
                <a:spcPts val="0"/>
              </a:spcAft>
            </a:pPr>
            <a:r>
              <a:rPr sz="1500" b="0" i="0" u="none">
                <a:solidFill>
                  <a:srgbClr val="3E4A57"/>
                </a:solidFill>
                <a:latin typeface="Calibri"/>
                <a:ea typeface="Calibri"/>
                <a:cs typeface="Calibri"/>
              </a:rPr>
              <a:t>Dónde corre, se guarda y se autoriza</a:t>
            </a:r>
          </a:p>
        </p:txBody>
      </p:sp>
      <p:sp>
        <p:nvSpPr>
          <p:cNvPr id="8" name="Rounded Rectangle 7"/>
          <p:cNvSpPr/>
          <p:nvPr/>
        </p:nvSpPr>
        <p:spPr>
          <a:xfrm>
            <a:off x="8183880" y="1965960"/>
            <a:ext cx="3611880" cy="173736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800" b="1" i="0" u="none">
                <a:solidFill>
                  <a:srgbClr val="E87A00"/>
                </a:solidFill>
                <a:latin typeface="Calibri"/>
                <a:ea typeface="Calibri"/>
                <a:cs typeface="Calibri"/>
              </a:rPr>
              <a:t>3</a:t>
            </a:r>
          </a:p>
          <a:p>
            <a:pPr algn="ctr">
              <a:spcBef>
                <a:spcPts val="600"/>
              </a:spcBef>
              <a:spcAft>
                <a:spcPts val="0"/>
              </a:spcAft>
            </a:pPr>
            <a:r>
              <a:rPr sz="2600" b="1" i="0" u="none">
                <a:solidFill>
                  <a:srgbClr val="1B2838"/>
                </a:solidFill>
                <a:latin typeface="Calibri"/>
                <a:ea typeface="Calibri"/>
                <a:cs typeface="Calibri"/>
              </a:rPr>
              <a:t>Ejemplo</a:t>
            </a:r>
          </a:p>
          <a:p>
            <a:pPr algn="ctr">
              <a:spcBef>
                <a:spcPts val="400"/>
              </a:spcBef>
              <a:spcAft>
                <a:spcPts val="0"/>
              </a:spcAft>
            </a:pPr>
            <a:r>
              <a:rPr sz="1500" b="0" i="0" u="none">
                <a:solidFill>
                  <a:srgbClr val="3E4A57"/>
                </a:solidFill>
                <a:latin typeface="Calibri"/>
                <a:ea typeface="Calibri"/>
                <a:cs typeface="Calibri"/>
              </a:rPr>
              <a:t>Una API de ingresos, paso a paso</a:t>
            </a:r>
          </a:p>
        </p:txBody>
      </p:sp>
      <p:sp>
        <p:nvSpPr>
          <p:cNvPr id="9" name="Rounded Rectangle 8"/>
          <p:cNvSpPr/>
          <p:nvPr/>
        </p:nvSpPr>
        <p:spPr>
          <a:xfrm>
            <a:off x="502920" y="3931920"/>
            <a:ext cx="3611880" cy="173736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800" b="1" i="0" u="none">
                <a:solidFill>
                  <a:srgbClr val="E87A00"/>
                </a:solidFill>
                <a:latin typeface="Calibri"/>
                <a:ea typeface="Calibri"/>
                <a:cs typeface="Calibri"/>
              </a:rPr>
              <a:t>4</a:t>
            </a:r>
          </a:p>
          <a:p>
            <a:pPr algn="ctr">
              <a:spcBef>
                <a:spcPts val="600"/>
              </a:spcBef>
              <a:spcAft>
                <a:spcPts val="0"/>
              </a:spcAft>
            </a:pPr>
            <a:r>
              <a:rPr sz="2600" b="1" i="0" u="none">
                <a:solidFill>
                  <a:srgbClr val="1B2838"/>
                </a:solidFill>
                <a:latin typeface="Calibri"/>
                <a:ea typeface="Calibri"/>
                <a:cs typeface="Calibri"/>
              </a:rPr>
              <a:t>Curso</a:t>
            </a:r>
          </a:p>
          <a:p>
            <a:pPr algn="ctr">
              <a:spcBef>
                <a:spcPts val="400"/>
              </a:spcBef>
              <a:spcAft>
                <a:spcPts val="0"/>
              </a:spcAft>
            </a:pPr>
            <a:r>
              <a:rPr sz="1500" b="0" i="0" u="none">
                <a:solidFill>
                  <a:srgbClr val="3E4A57"/>
                </a:solidFill>
                <a:latin typeface="Calibri"/>
                <a:ea typeface="Calibri"/>
                <a:cs typeface="Calibri"/>
              </a:rPr>
              <a:t>Docker, MySQL y el token</a:t>
            </a:r>
          </a:p>
        </p:txBody>
      </p:sp>
      <p:sp>
        <p:nvSpPr>
          <p:cNvPr id="10" name="Rounded Rectangle 9"/>
          <p:cNvSpPr/>
          <p:nvPr/>
        </p:nvSpPr>
        <p:spPr>
          <a:xfrm>
            <a:off x="4343400" y="3931920"/>
            <a:ext cx="3611880" cy="173736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800" b="1" i="0" u="none">
                <a:solidFill>
                  <a:srgbClr val="E87A00"/>
                </a:solidFill>
                <a:latin typeface="Calibri"/>
                <a:ea typeface="Calibri"/>
                <a:cs typeface="Calibri"/>
              </a:rPr>
              <a:t>5</a:t>
            </a:r>
          </a:p>
          <a:p>
            <a:pPr algn="ctr">
              <a:spcBef>
                <a:spcPts val="600"/>
              </a:spcBef>
              <a:spcAft>
                <a:spcPts val="0"/>
              </a:spcAft>
            </a:pPr>
            <a:r>
              <a:rPr sz="2600" b="1" i="0" u="none">
                <a:solidFill>
                  <a:srgbClr val="1B2838"/>
                </a:solidFill>
                <a:latin typeface="Calibri"/>
                <a:ea typeface="Calibri"/>
                <a:cs typeface="Calibri"/>
              </a:rPr>
              <a:t>Costo</a:t>
            </a:r>
          </a:p>
          <a:p>
            <a:pPr algn="ctr">
              <a:spcBef>
                <a:spcPts val="400"/>
              </a:spcBef>
              <a:spcAft>
                <a:spcPts val="0"/>
              </a:spcAft>
            </a:pPr>
            <a:r>
              <a:rPr sz="1500" b="0" i="0" u="none">
                <a:solidFill>
                  <a:srgbClr val="3E4A57"/>
                </a:solidFill>
                <a:latin typeface="Calibri"/>
                <a:ea typeface="Calibri"/>
                <a:cs typeface="Calibri"/>
              </a:rPr>
              <a:t>Qué se gana y cuándo no conviene</a:t>
            </a:r>
          </a:p>
        </p:txBody>
      </p:sp>
      <p:sp>
        <p:nvSpPr>
          <p:cNvPr id="11" name="Rounded Rectangle 10"/>
          <p:cNvSpPr/>
          <p:nvPr/>
        </p:nvSpPr>
        <p:spPr>
          <a:xfrm>
            <a:off x="8183880" y="3931920"/>
            <a:ext cx="3611880" cy="173736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800" b="1" i="0" u="none">
                <a:solidFill>
                  <a:srgbClr val="E87A00"/>
                </a:solidFill>
                <a:latin typeface="Calibri"/>
                <a:ea typeface="Calibri"/>
                <a:cs typeface="Calibri"/>
              </a:rPr>
              <a:t>6</a:t>
            </a:r>
          </a:p>
          <a:p>
            <a:pPr algn="ctr">
              <a:spcBef>
                <a:spcPts val="600"/>
              </a:spcBef>
              <a:spcAft>
                <a:spcPts val="0"/>
              </a:spcAft>
            </a:pPr>
            <a:r>
              <a:rPr sz="2600" b="1" i="0" u="none">
                <a:solidFill>
                  <a:srgbClr val="1B2838"/>
                </a:solidFill>
                <a:latin typeface="Calibri"/>
                <a:ea typeface="Calibri"/>
                <a:cs typeface="Calibri"/>
              </a:rPr>
              <a:t>Demo</a:t>
            </a:r>
          </a:p>
          <a:p>
            <a:pPr algn="ctr">
              <a:spcBef>
                <a:spcPts val="400"/>
              </a:spcBef>
              <a:spcAft>
                <a:spcPts val="0"/>
              </a:spcAft>
            </a:pPr>
            <a:r>
              <a:rPr sz="1500" b="0" i="0" u="none">
                <a:solidFill>
                  <a:srgbClr val="3E4A57"/>
                </a:solidFill>
                <a:latin typeface="Calibri"/>
                <a:ea typeface="Calibri"/>
                <a:cs typeface="Calibri"/>
              </a:rPr>
              <a:t>Video oficial y fuentes</a:t>
            </a:r>
          </a:p>
        </p:txBody>
      </p:sp>
      <p:sp>
        <p:nvSpPr>
          <p:cNvPr id="12" name="TextBox 11"/>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3" name="TextBox 12"/>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1   ·   EL PROBLEMA</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La laptop se queda corta</a:t>
            </a:r>
          </a:p>
        </p:txBody>
      </p:sp>
      <p:sp>
        <p:nvSpPr>
          <p:cNvPr id="6" name="Rectangle 5"/>
          <p:cNvSpPr/>
          <p:nvPr/>
        </p:nvSpPr>
        <p:spPr>
          <a:xfrm>
            <a:off x="502920" y="1965960"/>
            <a:ext cx="109728" cy="1115568"/>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10515600" cy="548640"/>
          </a:xfrm>
          <a:prstGeom prst="rect">
            <a:avLst/>
          </a:prstGeom>
          <a:noFill/>
        </p:spPr>
        <p:txBody>
          <a:bodyPr wrap="square" lIns="0" rIns="0" tIns="0" bIns="0"/>
          <a:lstStyle/>
          <a:p>
            <a:pPr algn="l">
              <a:spcBef>
                <a:spcPts val="0"/>
              </a:spcBef>
              <a:spcAft>
                <a:spcPts val="0"/>
              </a:spcAft>
            </a:pPr>
            <a:r>
              <a:rPr sz="2600" b="1" i="0" u="none">
                <a:solidFill>
                  <a:srgbClr val="1B2838"/>
                </a:solidFill>
                <a:latin typeface="Calibri"/>
                <a:ea typeface="Calibri"/>
                <a:cs typeface="Calibri"/>
              </a:rPr>
              <a:t>La API, MySQL y Docker ya funcionan en una computadora.</a:t>
            </a:r>
          </a:p>
        </p:txBody>
      </p:sp>
      <p:sp>
        <p:nvSpPr>
          <p:cNvPr id="8" name="TextBox 7"/>
          <p:cNvSpPr txBox="1"/>
          <p:nvPr/>
        </p:nvSpPr>
        <p:spPr>
          <a:xfrm>
            <a:off x="914400" y="2496312"/>
            <a:ext cx="10515600" cy="457200"/>
          </a:xfrm>
          <a:prstGeom prst="rect">
            <a:avLst/>
          </a:prstGeom>
          <a:noFill/>
        </p:spPr>
        <p:txBody>
          <a:bodyPr wrap="square" lIns="0" rIns="0" tIns="0" bIns="0"/>
          <a:lstStyle/>
          <a:p>
            <a:pPr algn="l">
              <a:spcBef>
                <a:spcPts val="0"/>
              </a:spcBef>
              <a:spcAft>
                <a:spcPts val="0"/>
              </a:spcAft>
            </a:pPr>
            <a:r>
              <a:rPr sz="2000" b="0" i="0" u="none">
                <a:solidFill>
                  <a:srgbClr val="3E4A57"/>
                </a:solidFill>
                <a:latin typeface="Calibri"/>
                <a:ea typeface="Calibri"/>
                <a:cs typeface="Calibri"/>
              </a:rPr>
              <a:t>Alcanza para probar un endpoint.</a:t>
            </a:r>
          </a:p>
        </p:txBody>
      </p:sp>
      <p:sp>
        <p:nvSpPr>
          <p:cNvPr id="9" name="Rectangle 8"/>
          <p:cNvSpPr/>
          <p:nvPr/>
        </p:nvSpPr>
        <p:spPr>
          <a:xfrm>
            <a:off x="502920" y="3337560"/>
            <a:ext cx="109728" cy="1115568"/>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37560"/>
            <a:ext cx="10515600" cy="548640"/>
          </a:xfrm>
          <a:prstGeom prst="rect">
            <a:avLst/>
          </a:prstGeom>
          <a:noFill/>
        </p:spPr>
        <p:txBody>
          <a:bodyPr wrap="square" lIns="0" rIns="0" tIns="0" bIns="0"/>
          <a:lstStyle/>
          <a:p>
            <a:pPr algn="l">
              <a:spcBef>
                <a:spcPts val="0"/>
              </a:spcBef>
              <a:spcAft>
                <a:spcPts val="0"/>
              </a:spcAft>
            </a:pPr>
            <a:r>
              <a:rPr sz="2600" b="1" i="0" u="none">
                <a:solidFill>
                  <a:srgbClr val="1B2838"/>
                </a:solidFill>
                <a:latin typeface="Calibri"/>
                <a:ea typeface="Calibri"/>
                <a:cs typeface="Calibri"/>
              </a:rPr>
              <a:t>Esa máquina se apaga y no tiene una URL pública.</a:t>
            </a:r>
          </a:p>
        </p:txBody>
      </p:sp>
      <p:sp>
        <p:nvSpPr>
          <p:cNvPr id="11" name="TextBox 10"/>
          <p:cNvSpPr txBox="1"/>
          <p:nvPr/>
        </p:nvSpPr>
        <p:spPr>
          <a:xfrm>
            <a:off x="914400" y="3867911"/>
            <a:ext cx="10515600" cy="457200"/>
          </a:xfrm>
          <a:prstGeom prst="rect">
            <a:avLst/>
          </a:prstGeom>
          <a:noFill/>
        </p:spPr>
        <p:txBody>
          <a:bodyPr wrap="square" lIns="0" rIns="0" tIns="0" bIns="0"/>
          <a:lstStyle/>
          <a:p>
            <a:pPr algn="l">
              <a:spcBef>
                <a:spcPts val="0"/>
              </a:spcBef>
              <a:spcAft>
                <a:spcPts val="0"/>
              </a:spcAft>
            </a:pPr>
            <a:r>
              <a:rPr sz="2000" b="0" i="0" u="none">
                <a:solidFill>
                  <a:srgbClr val="3E4A57"/>
                </a:solidFill>
                <a:latin typeface="Calibri"/>
                <a:ea typeface="Calibri"/>
                <a:cs typeface="Calibri"/>
              </a:rPr>
              <a:t>Nadie más puede consumir el servicio.</a:t>
            </a:r>
          </a:p>
        </p:txBody>
      </p:sp>
      <p:sp>
        <p:nvSpPr>
          <p:cNvPr id="12" name="Rectangle 11"/>
          <p:cNvSpPr/>
          <p:nvPr/>
        </p:nvSpPr>
        <p:spPr>
          <a:xfrm>
            <a:off x="502920" y="4709160"/>
            <a:ext cx="109728" cy="1115568"/>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09160"/>
            <a:ext cx="10515600" cy="548640"/>
          </a:xfrm>
          <a:prstGeom prst="rect">
            <a:avLst/>
          </a:prstGeom>
          <a:noFill/>
        </p:spPr>
        <p:txBody>
          <a:bodyPr wrap="square" lIns="0" rIns="0" tIns="0" bIns="0"/>
          <a:lstStyle/>
          <a:p>
            <a:pPr algn="l">
              <a:spcBef>
                <a:spcPts val="0"/>
              </a:spcBef>
              <a:spcAft>
                <a:spcPts val="0"/>
              </a:spcAft>
            </a:pPr>
            <a:r>
              <a:rPr sz="2600" b="1" i="0" u="none">
                <a:solidFill>
                  <a:srgbClr val="1B2838"/>
                </a:solidFill>
                <a:latin typeface="Calibri"/>
                <a:ea typeface="Calibri"/>
                <a:cs typeface="Calibri"/>
              </a:rPr>
              <a:t>El PDF del comprobante no cabe bien en una fila.</a:t>
            </a:r>
          </a:p>
        </p:txBody>
      </p:sp>
      <p:sp>
        <p:nvSpPr>
          <p:cNvPr id="14" name="TextBox 13"/>
          <p:cNvSpPr txBox="1"/>
          <p:nvPr/>
        </p:nvSpPr>
        <p:spPr>
          <a:xfrm>
            <a:off x="914400" y="5239512"/>
            <a:ext cx="10515600" cy="457200"/>
          </a:xfrm>
          <a:prstGeom prst="rect">
            <a:avLst/>
          </a:prstGeom>
          <a:noFill/>
        </p:spPr>
        <p:txBody>
          <a:bodyPr wrap="square" lIns="0" rIns="0" tIns="0" bIns="0"/>
          <a:lstStyle/>
          <a:p>
            <a:pPr algn="l">
              <a:spcBef>
                <a:spcPts val="0"/>
              </a:spcBef>
              <a:spcAft>
                <a:spcPts val="0"/>
              </a:spcAft>
            </a:pPr>
            <a:r>
              <a:rPr sz="2000" b="0" i="0" u="none">
                <a:solidFill>
                  <a:srgbClr val="3E4A57"/>
                </a:solidFill>
                <a:latin typeface="Calibri"/>
                <a:ea typeface="Calibri"/>
                <a:cs typeface="Calibri"/>
              </a:rPr>
              <a:t>Hace falta un lugar distinto para el archivo.</a:t>
            </a:r>
          </a:p>
        </p:txBody>
      </p:sp>
      <p:sp>
        <p:nvSpPr>
          <p:cNvPr id="15" name="TextBox 14"/>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6" name="TextBox 15"/>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2   ·   LAS PIEZAS</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Con cuatro servicios basta</a:t>
            </a:r>
          </a:p>
        </p:txBody>
      </p:sp>
      <p:sp>
        <p:nvSpPr>
          <p:cNvPr id="6" name="Rounded Rectangle 5"/>
          <p:cNvSpPr/>
          <p:nvPr/>
        </p:nvSpPr>
        <p:spPr>
          <a:xfrm>
            <a:off x="502920" y="1920240"/>
            <a:ext cx="5577840" cy="1920240"/>
          </a:xfrm>
          <a:prstGeom prst="roundRect">
            <a:avLst>
              <a:gd name="adj" fmla="val 8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l">
              <a:spcBef>
                <a:spcPts val="0"/>
              </a:spcBef>
              <a:spcAft>
                <a:spcPts val="0"/>
              </a:spcAft>
            </a:pPr>
            <a:r>
              <a:rPr sz="2600" b="1" i="0" u="none">
                <a:solidFill>
                  <a:srgbClr val="FFFFFF"/>
                </a:solidFill>
                <a:latin typeface="Calibri"/>
                <a:ea typeface="Calibri"/>
                <a:cs typeface="Calibri"/>
              </a:rPr>
              <a:t>01    Contenedor</a:t>
            </a:r>
          </a:p>
          <a:p>
            <a:pPr algn="l">
              <a:spcBef>
                <a:spcPts val="800"/>
              </a:spcBef>
              <a:spcAft>
                <a:spcPts val="0"/>
              </a:spcAft>
            </a:pPr>
            <a:r>
              <a:rPr sz="1800" b="0" i="0" u="none">
                <a:solidFill>
                  <a:srgbClr val="FFFFFF"/>
                </a:solidFill>
                <a:latin typeface="Calibri"/>
                <a:ea typeface="Calibri"/>
                <a:cs typeface="Calibri"/>
              </a:rPr>
              <a:t>ECR guarda la imagen.</a:t>
            </a:r>
          </a:p>
          <a:p>
            <a:pPr algn="l">
              <a:spcBef>
                <a:spcPts val="0"/>
              </a:spcBef>
              <a:spcAft>
                <a:spcPts val="0"/>
              </a:spcAft>
            </a:pPr>
            <a:r>
              <a:rPr sz="1800" b="0" i="0" u="none">
                <a:solidFill>
                  <a:srgbClr val="FFFFFF"/>
                </a:solidFill>
                <a:latin typeface="Calibri"/>
                <a:ea typeface="Calibri"/>
                <a:cs typeface="Calibri"/>
              </a:rPr>
              <a:t>Fargate la ejecuta.</a:t>
            </a:r>
          </a:p>
        </p:txBody>
      </p:sp>
      <p:sp>
        <p:nvSpPr>
          <p:cNvPr id="7" name="Rounded Rectangle 6"/>
          <p:cNvSpPr/>
          <p:nvPr/>
        </p:nvSpPr>
        <p:spPr>
          <a:xfrm>
            <a:off x="6355080" y="1920240"/>
            <a:ext cx="5577840" cy="1920240"/>
          </a:xfrm>
          <a:prstGeom prst="roundRect">
            <a:avLst>
              <a:gd name="adj" fmla="val 8000"/>
            </a:avLst>
          </a:prstGeom>
          <a:solidFill>
            <a:srgbClr val="0F6E62"/>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l">
              <a:spcBef>
                <a:spcPts val="0"/>
              </a:spcBef>
              <a:spcAft>
                <a:spcPts val="0"/>
              </a:spcAft>
            </a:pPr>
            <a:r>
              <a:rPr sz="2600" b="1" i="0" u="none">
                <a:solidFill>
                  <a:srgbClr val="FFFFFF"/>
                </a:solidFill>
                <a:latin typeface="Calibri"/>
                <a:ea typeface="Calibri"/>
                <a:cs typeface="Calibri"/>
              </a:rPr>
              <a:t>02    Base de datos</a:t>
            </a:r>
          </a:p>
          <a:p>
            <a:pPr algn="l">
              <a:spcBef>
                <a:spcPts val="800"/>
              </a:spcBef>
              <a:spcAft>
                <a:spcPts val="0"/>
              </a:spcAft>
            </a:pPr>
            <a:r>
              <a:rPr sz="1800" b="0" i="0" u="none">
                <a:solidFill>
                  <a:srgbClr val="FFFFFF"/>
                </a:solidFill>
                <a:latin typeface="Calibri"/>
                <a:ea typeface="Calibri"/>
                <a:cs typeface="Calibri"/>
              </a:rPr>
              <a:t>RDS for MySQL.</a:t>
            </a:r>
          </a:p>
          <a:p>
            <a:pPr algn="l">
              <a:spcBef>
                <a:spcPts val="0"/>
              </a:spcBef>
              <a:spcAft>
                <a:spcPts val="0"/>
              </a:spcAft>
            </a:pPr>
            <a:r>
              <a:rPr sz="1800" b="0" i="0" u="none">
                <a:solidFill>
                  <a:srgbClr val="FFFFFF"/>
                </a:solidFill>
                <a:latin typeface="Calibri"/>
                <a:ea typeface="Calibri"/>
                <a:cs typeface="Calibri"/>
              </a:rPr>
              <a:t>El mismo SQL de siempre.</a:t>
            </a:r>
          </a:p>
        </p:txBody>
      </p:sp>
      <p:sp>
        <p:nvSpPr>
          <p:cNvPr id="8" name="Rounded Rectangle 7"/>
          <p:cNvSpPr/>
          <p:nvPr/>
        </p:nvSpPr>
        <p:spPr>
          <a:xfrm>
            <a:off x="502920" y="4023360"/>
            <a:ext cx="5577840" cy="1920240"/>
          </a:xfrm>
          <a:prstGeom prst="roundRect">
            <a:avLst>
              <a:gd name="adj" fmla="val 8000"/>
            </a:avLst>
          </a:prstGeom>
          <a:solidFill>
            <a:srgbClr val="B84A12"/>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l">
              <a:spcBef>
                <a:spcPts val="0"/>
              </a:spcBef>
              <a:spcAft>
                <a:spcPts val="0"/>
              </a:spcAft>
            </a:pPr>
            <a:r>
              <a:rPr sz="2600" b="1" i="0" u="none">
                <a:solidFill>
                  <a:srgbClr val="FFFFFF"/>
                </a:solidFill>
                <a:latin typeface="Calibri"/>
                <a:ea typeface="Calibri"/>
                <a:cs typeface="Calibri"/>
              </a:rPr>
              <a:t>03    Archivos</a:t>
            </a:r>
          </a:p>
          <a:p>
            <a:pPr algn="l">
              <a:spcBef>
                <a:spcPts val="800"/>
              </a:spcBef>
              <a:spcAft>
                <a:spcPts val="0"/>
              </a:spcAft>
            </a:pPr>
            <a:r>
              <a:rPr sz="1800" b="0" i="0" u="none">
                <a:solidFill>
                  <a:srgbClr val="FFFFFF"/>
                </a:solidFill>
                <a:latin typeface="Calibri"/>
                <a:ea typeface="Calibri"/>
                <a:cs typeface="Calibri"/>
              </a:rPr>
              <a:t>S3 guarda el PDF.</a:t>
            </a:r>
          </a:p>
          <a:p>
            <a:pPr algn="l">
              <a:spcBef>
                <a:spcPts val="0"/>
              </a:spcBef>
              <a:spcAft>
                <a:spcPts val="0"/>
              </a:spcAft>
            </a:pPr>
            <a:r>
              <a:rPr sz="1800" b="0" i="0" u="none">
                <a:solidFill>
                  <a:srgbClr val="FFFFFF"/>
                </a:solidFill>
                <a:latin typeface="Calibri"/>
                <a:ea typeface="Calibri"/>
                <a:cs typeface="Calibri"/>
              </a:rPr>
              <a:t>La fila guarda la clave.</a:t>
            </a:r>
          </a:p>
        </p:txBody>
      </p:sp>
      <p:sp>
        <p:nvSpPr>
          <p:cNvPr id="9" name="Rounded Rectangle 8"/>
          <p:cNvSpPr/>
          <p:nvPr/>
        </p:nvSpPr>
        <p:spPr>
          <a:xfrm>
            <a:off x="6355080" y="4023360"/>
            <a:ext cx="5577840" cy="192024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l">
              <a:spcBef>
                <a:spcPts val="0"/>
              </a:spcBef>
              <a:spcAft>
                <a:spcPts val="0"/>
              </a:spcAft>
            </a:pPr>
            <a:r>
              <a:rPr sz="2600" b="1" i="0" u="none">
                <a:solidFill>
                  <a:srgbClr val="1B2838"/>
                </a:solidFill>
                <a:latin typeface="Calibri"/>
                <a:ea typeface="Calibri"/>
                <a:cs typeface="Calibri"/>
              </a:rPr>
              <a:t>04    Acceso</a:t>
            </a:r>
          </a:p>
          <a:p>
            <a:pPr algn="l">
              <a:spcBef>
                <a:spcPts val="800"/>
              </a:spcBef>
              <a:spcAft>
                <a:spcPts val="0"/>
              </a:spcAft>
            </a:pPr>
            <a:r>
              <a:rPr sz="1800" b="0" i="0" u="none">
                <a:solidFill>
                  <a:srgbClr val="3E4A57"/>
                </a:solidFill>
                <a:latin typeface="Calibri"/>
                <a:ea typeface="Calibri"/>
                <a:cs typeface="Calibri"/>
              </a:rPr>
              <a:t>IAM y la red privada.</a:t>
            </a:r>
          </a:p>
          <a:p>
            <a:pPr algn="l">
              <a:spcBef>
                <a:spcPts val="0"/>
              </a:spcBef>
              <a:spcAft>
                <a:spcPts val="0"/>
              </a:spcAft>
            </a:pPr>
            <a:r>
              <a:rPr sz="1800" b="0" i="0" u="none">
                <a:solidFill>
                  <a:srgbClr val="3E4A57"/>
                </a:solidFill>
                <a:latin typeface="Calibri"/>
                <a:ea typeface="Calibri"/>
                <a:cs typeface="Calibri"/>
              </a:rPr>
              <a:t>El token sigue en la API.</a:t>
            </a:r>
          </a:p>
        </p:txBody>
      </p:sp>
      <p:sp>
        <p:nvSpPr>
          <p:cNvPr id="10" name="TextBox 9"/>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1" name="TextBox 10"/>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PIEZA 01</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La imagen corre en Fargate</a:t>
            </a:r>
          </a:p>
        </p:txBody>
      </p:sp>
      <p:sp>
        <p:nvSpPr>
          <p:cNvPr id="6" name="Rounded Rectangle 5"/>
          <p:cNvSpPr/>
          <p:nvPr/>
        </p:nvSpPr>
        <p:spPr>
          <a:xfrm>
            <a:off x="502920" y="2057400"/>
            <a:ext cx="3611880" cy="246888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800" b="1" i="0" u="none">
                <a:solidFill>
                  <a:srgbClr val="1B2838"/>
                </a:solidFill>
                <a:latin typeface="Calibri"/>
                <a:ea typeface="Calibri"/>
                <a:cs typeface="Calibri"/>
              </a:rPr>
              <a:t>ECR</a:t>
            </a:r>
          </a:p>
          <a:p>
            <a:pPr algn="ctr">
              <a:spcBef>
                <a:spcPts val="1000"/>
              </a:spcBef>
              <a:spcAft>
                <a:spcPts val="0"/>
              </a:spcAft>
            </a:pPr>
            <a:r>
              <a:rPr sz="1800" b="0" i="0" u="none">
                <a:solidFill>
                  <a:srgbClr val="3E4A57"/>
                </a:solidFill>
                <a:latin typeface="Calibri"/>
                <a:ea typeface="Calibri"/>
                <a:cs typeface="Calibri"/>
              </a:rPr>
              <a:t>Guarda la imagen</a:t>
            </a:r>
          </a:p>
          <a:p>
            <a:pPr algn="ctr">
              <a:spcBef>
                <a:spcPts val="0"/>
              </a:spcBef>
              <a:spcAft>
                <a:spcPts val="0"/>
              </a:spcAft>
            </a:pPr>
            <a:r>
              <a:rPr sz="1800" b="0" i="0" u="none">
                <a:solidFill>
                  <a:srgbClr val="3E4A57"/>
                </a:solidFill>
                <a:latin typeface="Calibri"/>
                <a:ea typeface="Calibri"/>
                <a:cs typeface="Calibri"/>
              </a:rPr>
              <a:t>de Docker</a:t>
            </a:r>
          </a:p>
        </p:txBody>
      </p:sp>
      <p:sp>
        <p:nvSpPr>
          <p:cNvPr id="7" name="Rectangle 6"/>
          <p:cNvSpPr/>
          <p:nvPr/>
        </p:nvSpPr>
        <p:spPr>
          <a:xfrm>
            <a:off x="502920" y="2057400"/>
            <a:ext cx="3611880" cy="91440"/>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43400" y="2057400"/>
            <a:ext cx="3611880" cy="246888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800" b="1" i="0" u="none">
                <a:solidFill>
                  <a:srgbClr val="1B2838"/>
                </a:solidFill>
                <a:latin typeface="Calibri"/>
                <a:ea typeface="Calibri"/>
                <a:cs typeface="Calibri"/>
              </a:rPr>
              <a:t>Fargate</a:t>
            </a:r>
          </a:p>
          <a:p>
            <a:pPr algn="ctr">
              <a:spcBef>
                <a:spcPts val="1000"/>
              </a:spcBef>
              <a:spcAft>
                <a:spcPts val="0"/>
              </a:spcAft>
            </a:pPr>
            <a:r>
              <a:rPr sz="1800" b="0" i="0" u="none">
                <a:solidFill>
                  <a:srgbClr val="3E4A57"/>
                </a:solidFill>
                <a:latin typeface="Calibri"/>
                <a:ea typeface="Calibri"/>
                <a:cs typeface="Calibri"/>
              </a:rPr>
              <a:t>La ejecuta sin</a:t>
            </a:r>
          </a:p>
          <a:p>
            <a:pPr algn="ctr">
              <a:spcBef>
                <a:spcPts val="0"/>
              </a:spcBef>
              <a:spcAft>
                <a:spcPts val="0"/>
              </a:spcAft>
            </a:pPr>
            <a:r>
              <a:rPr sz="1800" b="0" i="0" u="none">
                <a:solidFill>
                  <a:srgbClr val="3E4A57"/>
                </a:solidFill>
                <a:latin typeface="Calibri"/>
                <a:ea typeface="Calibri"/>
                <a:cs typeface="Calibri"/>
              </a:rPr>
              <a:t>administrar la máquina</a:t>
            </a:r>
          </a:p>
        </p:txBody>
      </p:sp>
      <p:sp>
        <p:nvSpPr>
          <p:cNvPr id="9" name="Rectangle 8"/>
          <p:cNvSpPr/>
          <p:nvPr/>
        </p:nvSpPr>
        <p:spPr>
          <a:xfrm>
            <a:off x="4343400" y="2057400"/>
            <a:ext cx="3611880" cy="91440"/>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83880" y="2057400"/>
            <a:ext cx="3611880" cy="246888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800" b="1" i="0" u="none">
                <a:solidFill>
                  <a:srgbClr val="1B2838"/>
                </a:solidFill>
                <a:latin typeface="Calibri"/>
                <a:ea typeface="Calibri"/>
                <a:cs typeface="Calibri"/>
              </a:rPr>
              <a:t>Express Mode</a:t>
            </a:r>
          </a:p>
          <a:p>
            <a:pPr algn="ctr">
              <a:spcBef>
                <a:spcPts val="1000"/>
              </a:spcBef>
              <a:spcAft>
                <a:spcPts val="0"/>
              </a:spcAft>
            </a:pPr>
            <a:r>
              <a:rPr sz="1800" b="0" i="0" u="none">
                <a:solidFill>
                  <a:srgbClr val="3E4A57"/>
                </a:solidFill>
                <a:latin typeface="Calibri"/>
                <a:ea typeface="Calibri"/>
                <a:cs typeface="Calibri"/>
              </a:rPr>
              <a:t>Le pone URL,</a:t>
            </a:r>
          </a:p>
          <a:p>
            <a:pPr algn="ctr">
              <a:spcBef>
                <a:spcPts val="0"/>
              </a:spcBef>
              <a:spcAft>
                <a:spcPts val="0"/>
              </a:spcAft>
            </a:pPr>
            <a:r>
              <a:rPr sz="1800" b="0" i="0" u="none">
                <a:solidFill>
                  <a:srgbClr val="3E4A57"/>
                </a:solidFill>
                <a:latin typeface="Calibri"/>
                <a:ea typeface="Calibri"/>
                <a:cs typeface="Calibri"/>
              </a:rPr>
              <a:t>HTTPS y escalado</a:t>
            </a:r>
          </a:p>
        </p:txBody>
      </p:sp>
      <p:sp>
        <p:nvSpPr>
          <p:cNvPr id="11" name="Rectangle 10"/>
          <p:cNvSpPr/>
          <p:nvPr/>
        </p:nvSpPr>
        <p:spPr>
          <a:xfrm>
            <a:off x="8183880" y="2057400"/>
            <a:ext cx="3611880" cy="91440"/>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800600"/>
            <a:ext cx="11155680" cy="1280160"/>
          </a:xfrm>
          <a:prstGeom prst="rect">
            <a:avLst/>
          </a:prstGeom>
          <a:noFill/>
        </p:spPr>
        <p:txBody>
          <a:bodyPr wrap="square" lIns="0" rIns="0" tIns="0" bIns="0"/>
          <a:lstStyle/>
          <a:p>
            <a:pPr algn="l">
              <a:spcBef>
                <a:spcPts val="0"/>
              </a:spcBef>
              <a:spcAft>
                <a:spcPts val="0"/>
              </a:spcAft>
            </a:pPr>
            <a:r>
              <a:rPr sz="2200" b="0" i="0" u="none">
                <a:solidFill>
                  <a:srgbClr val="1A1F26"/>
                </a:solidFill>
                <a:latin typeface="Calibri"/>
                <a:ea typeface="Calibri"/>
                <a:cs typeface="Calibri"/>
              </a:rPr>
              <a:t>Para arrancar, Express Mode pide la imagen, un rol de ejecución</a:t>
            </a:r>
          </a:p>
          <a:p>
            <a:pPr algn="l">
              <a:spcBef>
                <a:spcPts val="0"/>
              </a:spcBef>
              <a:spcAft>
                <a:spcPts val="0"/>
              </a:spcAft>
            </a:pPr>
            <a:r>
              <a:rPr sz="2200" b="0" i="0" u="none">
                <a:solidFill>
                  <a:srgbClr val="1A1F26"/>
                </a:solidFill>
                <a:latin typeface="Calibri"/>
                <a:ea typeface="Calibri"/>
                <a:cs typeface="Calibri"/>
              </a:rPr>
              <a:t>y un rol de infraestructura. La API tiene que poder apagarse</a:t>
            </a:r>
          </a:p>
          <a:p>
            <a:pPr algn="l">
              <a:spcBef>
                <a:spcPts val="0"/>
              </a:spcBef>
              <a:spcAft>
                <a:spcPts val="0"/>
              </a:spcAft>
            </a:pPr>
            <a:r>
              <a:rPr sz="2200" b="0" i="0" u="none">
                <a:solidFill>
                  <a:srgbClr val="1A1F26"/>
                </a:solidFill>
                <a:latin typeface="Calibri"/>
                <a:ea typeface="Calibri"/>
                <a:cs typeface="Calibri"/>
              </a:rPr>
              <a:t>sin perder datos: el estado no vive en el disco del contenedor.</a:t>
            </a:r>
          </a:p>
        </p:txBody>
      </p:sp>
      <p:sp>
        <p:nvSpPr>
          <p:cNvPr id="13" name="TextBox 12"/>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4" name="TextBox 13"/>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PIEZA 02</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MySQL, operado por RDS</a:t>
            </a:r>
          </a:p>
        </p:txBody>
      </p:sp>
      <p:sp>
        <p:nvSpPr>
          <p:cNvPr id="6" name="Rounded Rectangle 5"/>
          <p:cNvSpPr/>
          <p:nvPr/>
        </p:nvSpPr>
        <p:spPr>
          <a:xfrm>
            <a:off x="502920" y="1965960"/>
            <a:ext cx="11155680" cy="89611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67128"/>
            <a:ext cx="3017520" cy="502920"/>
          </a:xfrm>
          <a:prstGeom prst="rect">
            <a:avLst/>
          </a:prstGeom>
          <a:noFill/>
        </p:spPr>
        <p:txBody>
          <a:bodyPr wrap="square" lIns="0" rIns="0" tIns="0" bIns="0"/>
          <a:lstStyle/>
          <a:p>
            <a:pPr algn="l">
              <a:spcBef>
                <a:spcPts val="0"/>
              </a:spcBef>
              <a:spcAft>
                <a:spcPts val="0"/>
              </a:spcAft>
            </a:pPr>
            <a:r>
              <a:rPr sz="2200" b="1" i="0" u="none">
                <a:solidFill>
                  <a:srgbClr val="E87A00"/>
                </a:solidFill>
                <a:latin typeface="Calibri"/>
                <a:ea typeface="Calibri"/>
                <a:cs typeface="Calibri"/>
              </a:rPr>
              <a:t>Se conserva</a:t>
            </a:r>
          </a:p>
        </p:txBody>
      </p:sp>
      <p:sp>
        <p:nvSpPr>
          <p:cNvPr id="8" name="TextBox 7"/>
          <p:cNvSpPr txBox="1"/>
          <p:nvPr/>
        </p:nvSpPr>
        <p:spPr>
          <a:xfrm>
            <a:off x="3840480" y="2167128"/>
            <a:ext cx="7406640" cy="502920"/>
          </a:xfrm>
          <a:prstGeom prst="rect">
            <a:avLst/>
          </a:prstGeom>
          <a:noFill/>
        </p:spPr>
        <p:txBody>
          <a:bodyPr wrap="square" lIns="0" rIns="0" tIns="0" bIns="0"/>
          <a:lstStyle/>
          <a:p>
            <a:pPr algn="l">
              <a:spcBef>
                <a:spcPts val="0"/>
              </a:spcBef>
              <a:spcAft>
                <a:spcPts val="0"/>
              </a:spcAft>
            </a:pPr>
            <a:r>
              <a:rPr sz="2400" b="1" i="0" u="none">
                <a:solidFill>
                  <a:srgbClr val="1B2838"/>
                </a:solidFill>
                <a:latin typeface="Calibri"/>
                <a:ea typeface="Calibri"/>
                <a:cs typeface="Calibri"/>
              </a:rPr>
              <a:t>El SQL y el cliente mysql</a:t>
            </a:r>
          </a:p>
        </p:txBody>
      </p:sp>
      <p:sp>
        <p:nvSpPr>
          <p:cNvPr id="9" name="Rounded Rectangle 8"/>
          <p:cNvSpPr/>
          <p:nvPr/>
        </p:nvSpPr>
        <p:spPr>
          <a:xfrm>
            <a:off x="502920" y="2971800"/>
            <a:ext cx="11155680" cy="89611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72968"/>
            <a:ext cx="3017520" cy="502920"/>
          </a:xfrm>
          <a:prstGeom prst="rect">
            <a:avLst/>
          </a:prstGeom>
          <a:noFill/>
        </p:spPr>
        <p:txBody>
          <a:bodyPr wrap="square" lIns="0" rIns="0" tIns="0" bIns="0"/>
          <a:lstStyle/>
          <a:p>
            <a:pPr algn="l">
              <a:spcBef>
                <a:spcPts val="0"/>
              </a:spcBef>
              <a:spcAft>
                <a:spcPts val="0"/>
              </a:spcAft>
            </a:pPr>
            <a:r>
              <a:rPr sz="2200" b="1" i="0" u="none">
                <a:solidFill>
                  <a:srgbClr val="E87A00"/>
                </a:solidFill>
                <a:latin typeface="Calibri"/>
                <a:ea typeface="Calibri"/>
                <a:cs typeface="Calibri"/>
              </a:rPr>
              <a:t>Lo opera AWS</a:t>
            </a:r>
          </a:p>
        </p:txBody>
      </p:sp>
      <p:sp>
        <p:nvSpPr>
          <p:cNvPr id="11" name="TextBox 10"/>
          <p:cNvSpPr txBox="1"/>
          <p:nvPr/>
        </p:nvSpPr>
        <p:spPr>
          <a:xfrm>
            <a:off x="3840480" y="3172968"/>
            <a:ext cx="7406640" cy="502920"/>
          </a:xfrm>
          <a:prstGeom prst="rect">
            <a:avLst/>
          </a:prstGeom>
          <a:noFill/>
        </p:spPr>
        <p:txBody>
          <a:bodyPr wrap="square" lIns="0" rIns="0" tIns="0" bIns="0"/>
          <a:lstStyle/>
          <a:p>
            <a:pPr algn="l">
              <a:spcBef>
                <a:spcPts val="0"/>
              </a:spcBef>
              <a:spcAft>
                <a:spcPts val="0"/>
              </a:spcAft>
            </a:pPr>
            <a:r>
              <a:rPr sz="2400" b="1" i="0" u="none">
                <a:solidFill>
                  <a:srgbClr val="1B2838"/>
                </a:solidFill>
                <a:latin typeface="Calibri"/>
                <a:ea typeface="Calibri"/>
                <a:cs typeface="Calibri"/>
              </a:rPr>
              <a:t>Respaldos, snapshots y Multi-AZ</a:t>
            </a:r>
          </a:p>
        </p:txBody>
      </p:sp>
      <p:sp>
        <p:nvSpPr>
          <p:cNvPr id="12" name="Rounded Rectangle 11"/>
          <p:cNvSpPr/>
          <p:nvPr/>
        </p:nvSpPr>
        <p:spPr>
          <a:xfrm>
            <a:off x="502920" y="3977639"/>
            <a:ext cx="11155680" cy="89611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178807"/>
            <a:ext cx="3017520" cy="502920"/>
          </a:xfrm>
          <a:prstGeom prst="rect">
            <a:avLst/>
          </a:prstGeom>
          <a:noFill/>
        </p:spPr>
        <p:txBody>
          <a:bodyPr wrap="square" lIns="0" rIns="0" tIns="0" bIns="0"/>
          <a:lstStyle/>
          <a:p>
            <a:pPr algn="l">
              <a:spcBef>
                <a:spcPts val="0"/>
              </a:spcBef>
              <a:spcAft>
                <a:spcPts val="0"/>
              </a:spcAft>
            </a:pPr>
            <a:r>
              <a:rPr sz="2200" b="1" i="0" u="none">
                <a:solidFill>
                  <a:srgbClr val="E87A00"/>
                </a:solidFill>
                <a:latin typeface="Calibri"/>
                <a:ea typeface="Calibri"/>
                <a:cs typeface="Calibri"/>
              </a:rPr>
              <a:t>Límite</a:t>
            </a:r>
          </a:p>
        </p:txBody>
      </p:sp>
      <p:sp>
        <p:nvSpPr>
          <p:cNvPr id="14" name="TextBox 13"/>
          <p:cNvSpPr txBox="1"/>
          <p:nvPr/>
        </p:nvSpPr>
        <p:spPr>
          <a:xfrm>
            <a:off x="3840480" y="4178807"/>
            <a:ext cx="7406640" cy="502920"/>
          </a:xfrm>
          <a:prstGeom prst="rect">
            <a:avLst/>
          </a:prstGeom>
          <a:noFill/>
        </p:spPr>
        <p:txBody>
          <a:bodyPr wrap="square" lIns="0" rIns="0" tIns="0" bIns="0"/>
          <a:lstStyle/>
          <a:p>
            <a:pPr algn="l">
              <a:spcBef>
                <a:spcPts val="0"/>
              </a:spcBef>
              <a:spcAft>
                <a:spcPts val="0"/>
              </a:spcAft>
            </a:pPr>
            <a:r>
              <a:rPr sz="2400" b="1" i="0" u="none">
                <a:solidFill>
                  <a:srgbClr val="1B2838"/>
                </a:solidFill>
                <a:latin typeface="Calibri"/>
                <a:ea typeface="Calibri"/>
                <a:cs typeface="Calibri"/>
              </a:rPr>
              <a:t>No hay SSH ni shell en el servidor</a:t>
            </a:r>
          </a:p>
        </p:txBody>
      </p:sp>
      <p:sp>
        <p:nvSpPr>
          <p:cNvPr id="15" name="Rounded Rectangle 14"/>
          <p:cNvSpPr/>
          <p:nvPr/>
        </p:nvSpPr>
        <p:spPr>
          <a:xfrm>
            <a:off x="502920" y="4983480"/>
            <a:ext cx="11155680" cy="89611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184648"/>
            <a:ext cx="3017520" cy="502920"/>
          </a:xfrm>
          <a:prstGeom prst="rect">
            <a:avLst/>
          </a:prstGeom>
          <a:noFill/>
        </p:spPr>
        <p:txBody>
          <a:bodyPr wrap="square" lIns="0" rIns="0" tIns="0" bIns="0"/>
          <a:lstStyle/>
          <a:p>
            <a:pPr algn="l">
              <a:spcBef>
                <a:spcPts val="0"/>
              </a:spcBef>
              <a:spcAft>
                <a:spcPts val="0"/>
              </a:spcAft>
            </a:pPr>
            <a:r>
              <a:rPr sz="2200" b="1" i="0" u="none">
                <a:solidFill>
                  <a:srgbClr val="E87A00"/>
                </a:solidFill>
                <a:latin typeface="Calibri"/>
                <a:ea typeface="Calibri"/>
                <a:cs typeface="Calibri"/>
              </a:rPr>
              <a:t>Red</a:t>
            </a:r>
          </a:p>
        </p:txBody>
      </p:sp>
      <p:sp>
        <p:nvSpPr>
          <p:cNvPr id="17" name="TextBox 16"/>
          <p:cNvSpPr txBox="1"/>
          <p:nvPr/>
        </p:nvSpPr>
        <p:spPr>
          <a:xfrm>
            <a:off x="3840480" y="5184648"/>
            <a:ext cx="7406640" cy="502920"/>
          </a:xfrm>
          <a:prstGeom prst="rect">
            <a:avLst/>
          </a:prstGeom>
          <a:noFill/>
        </p:spPr>
        <p:txBody>
          <a:bodyPr wrap="square" lIns="0" rIns="0" tIns="0" bIns="0"/>
          <a:lstStyle/>
          <a:p>
            <a:pPr algn="l">
              <a:spcBef>
                <a:spcPts val="0"/>
              </a:spcBef>
              <a:spcAft>
                <a:spcPts val="0"/>
              </a:spcAft>
            </a:pPr>
            <a:r>
              <a:rPr sz="2400" b="1" i="0" u="none">
                <a:solidFill>
                  <a:srgbClr val="1B2838"/>
                </a:solidFill>
                <a:latin typeface="Calibri"/>
                <a:ea typeface="Calibri"/>
                <a:cs typeface="Calibri"/>
              </a:rPr>
              <a:t>La instancia va en una subred privada</a:t>
            </a:r>
          </a:p>
        </p:txBody>
      </p:sp>
      <p:sp>
        <p:nvSpPr>
          <p:cNvPr id="18" name="TextBox 17"/>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9" name="TextBox 18"/>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PIEZA 03</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El PDF no va en la tabla</a:t>
            </a:r>
          </a:p>
        </p:txBody>
      </p:sp>
      <p:sp>
        <p:nvSpPr>
          <p:cNvPr id="6" name="Rounded Rectangle 5"/>
          <p:cNvSpPr/>
          <p:nvPr/>
        </p:nvSpPr>
        <p:spPr>
          <a:xfrm>
            <a:off x="502920" y="2011680"/>
            <a:ext cx="5486400" cy="3931920"/>
          </a:xfrm>
          <a:prstGeom prst="roundRect">
            <a:avLst>
              <a:gd name="adj" fmla="val 6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000" b="1" i="0" u="none">
                <a:solidFill>
                  <a:srgbClr val="E87A00"/>
                </a:solidFill>
                <a:latin typeface="Calibri"/>
                <a:ea typeface="Calibri"/>
                <a:cs typeface="Calibri"/>
              </a:rPr>
              <a:t>MySQL</a:t>
            </a:r>
          </a:p>
          <a:p>
            <a:pPr algn="ctr">
              <a:spcBef>
                <a:spcPts val="1200"/>
              </a:spcBef>
              <a:spcAft>
                <a:spcPts val="0"/>
              </a:spcAft>
            </a:pPr>
            <a:r>
              <a:rPr sz="3200" b="1" i="0" u="none">
                <a:solidFill>
                  <a:srgbClr val="1B2838"/>
                </a:solidFill>
                <a:latin typeface="Calibri"/>
                <a:ea typeface="Calibri"/>
                <a:cs typeface="Calibri"/>
              </a:rPr>
              <a:t>ingresos</a:t>
            </a:r>
          </a:p>
          <a:p>
            <a:pPr algn="ctr">
              <a:spcBef>
                <a:spcPts val="1400"/>
              </a:spcBef>
              <a:spcAft>
                <a:spcPts val="0"/>
              </a:spcAft>
            </a:pPr>
            <a:r>
              <a:rPr sz="1800" b="0" i="0" u="none">
                <a:solidFill>
                  <a:srgbClr val="3E4A57"/>
                </a:solidFill>
                <a:latin typeface="Calibri"/>
                <a:ea typeface="Calibri"/>
                <a:cs typeface="Calibri"/>
              </a:rPr>
              <a:t>id, monto, concepto, fecha</a:t>
            </a:r>
          </a:p>
          <a:p>
            <a:pPr algn="ctr">
              <a:spcBef>
                <a:spcPts val="800"/>
              </a:spcBef>
              <a:spcAft>
                <a:spcPts val="0"/>
              </a:spcAft>
            </a:pPr>
            <a:r>
              <a:rPr sz="2200" b="1" i="0" u="none">
                <a:solidFill>
                  <a:srgbClr val="0F6E62"/>
                </a:solidFill>
                <a:latin typeface="Calibri"/>
                <a:ea typeface="Calibri"/>
                <a:cs typeface="Calibri"/>
              </a:rPr>
              <a:t>clave del archivo</a:t>
            </a:r>
          </a:p>
        </p:txBody>
      </p:sp>
      <p:sp>
        <p:nvSpPr>
          <p:cNvPr id="7" name="Rounded Rectangle 6"/>
          <p:cNvSpPr/>
          <p:nvPr/>
        </p:nvSpPr>
        <p:spPr>
          <a:xfrm>
            <a:off x="6217920" y="2011680"/>
            <a:ext cx="5486400" cy="3931920"/>
          </a:xfrm>
          <a:prstGeom prst="roundRect">
            <a:avLst>
              <a:gd name="adj" fmla="val 6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000" b="1" i="0" u="none">
                <a:solidFill>
                  <a:srgbClr val="E87A00"/>
                </a:solidFill>
                <a:latin typeface="Calibri"/>
                <a:ea typeface="Calibri"/>
                <a:cs typeface="Calibri"/>
              </a:rPr>
              <a:t>S3</a:t>
            </a:r>
          </a:p>
          <a:p>
            <a:pPr algn="ctr">
              <a:spcBef>
                <a:spcPts val="1200"/>
              </a:spcBef>
              <a:spcAft>
                <a:spcPts val="0"/>
              </a:spcAft>
            </a:pPr>
            <a:r>
              <a:rPr sz="3200" b="1" i="0" u="none">
                <a:solidFill>
                  <a:srgbClr val="FFFFFF"/>
                </a:solidFill>
                <a:latin typeface="Calibri"/>
                <a:ea typeface="Calibri"/>
                <a:cs typeface="Calibri"/>
              </a:rPr>
              <a:t>el objeto</a:t>
            </a:r>
          </a:p>
          <a:p>
            <a:pPr algn="ctr">
              <a:spcBef>
                <a:spcPts val="1400"/>
              </a:spcBef>
              <a:spcAft>
                <a:spcPts val="0"/>
              </a:spcAft>
            </a:pPr>
            <a:r>
              <a:rPr sz="1800" b="0" i="0" u="none">
                <a:solidFill>
                  <a:srgbClr val="D5DEE6"/>
                </a:solidFill>
                <a:latin typeface="Calibri"/>
                <a:ea typeface="Calibri"/>
                <a:cs typeface="Calibri"/>
              </a:rPr>
              <a:t>comprobantes/2026/10/</a:t>
            </a:r>
          </a:p>
          <a:p>
            <a:pPr algn="ctr">
              <a:spcBef>
                <a:spcPts val="600"/>
              </a:spcBef>
              <a:spcAft>
                <a:spcPts val="0"/>
              </a:spcAft>
            </a:pPr>
            <a:r>
              <a:rPr sz="2200" b="1" i="0" u="none">
                <a:solidFill>
                  <a:srgbClr val="FFFFFF"/>
                </a:solidFill>
                <a:latin typeface="Calibri"/>
                <a:ea typeface="Calibri"/>
                <a:cs typeface="Calibri"/>
              </a:rPr>
              <a:t>ingreso-184.pdf</a:t>
            </a:r>
          </a:p>
        </p:txBody>
      </p:sp>
      <p:sp>
        <p:nvSpPr>
          <p:cNvPr id="8" name="TextBox 7"/>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9" name="TextBox 8"/>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PIEZA 04</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Dos permisos distintos</a:t>
            </a:r>
          </a:p>
        </p:txBody>
      </p:sp>
      <p:sp>
        <p:nvSpPr>
          <p:cNvPr id="6" name="Rounded Rectangle 5"/>
          <p:cNvSpPr/>
          <p:nvPr/>
        </p:nvSpPr>
        <p:spPr>
          <a:xfrm>
            <a:off x="502920" y="2011680"/>
            <a:ext cx="5486400" cy="3931920"/>
          </a:xfrm>
          <a:prstGeom prst="roundRect">
            <a:avLst>
              <a:gd name="adj" fmla="val 6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1600" b="1" i="0" u="none">
                <a:solidFill>
                  <a:srgbClr val="E87A00"/>
                </a:solidFill>
                <a:latin typeface="Calibri"/>
                <a:ea typeface="Calibri"/>
                <a:cs typeface="Calibri"/>
              </a:rPr>
              <a:t>TOKEN DE LA API</a:t>
            </a:r>
          </a:p>
          <a:p>
            <a:pPr algn="ctr">
              <a:spcBef>
                <a:spcPts val="1600"/>
              </a:spcBef>
              <a:spcAft>
                <a:spcPts val="0"/>
              </a:spcAft>
            </a:pPr>
            <a:r>
              <a:rPr sz="2600" b="1" i="0" u="none">
                <a:solidFill>
                  <a:srgbClr val="1B2838"/>
                </a:solidFill>
                <a:latin typeface="Calibri"/>
                <a:ea typeface="Calibri"/>
                <a:cs typeface="Calibri"/>
              </a:rPr>
              <a:t>¿Este usuario puede</a:t>
            </a:r>
          </a:p>
          <a:p>
            <a:pPr algn="ctr">
              <a:spcBef>
                <a:spcPts val="400"/>
              </a:spcBef>
              <a:spcAft>
                <a:spcPts val="0"/>
              </a:spcAft>
            </a:pPr>
            <a:r>
              <a:rPr sz="2600" b="1" i="0" u="none">
                <a:solidFill>
                  <a:srgbClr val="1B2838"/>
                </a:solidFill>
                <a:latin typeface="Calibri"/>
                <a:ea typeface="Calibri"/>
                <a:cs typeface="Calibri"/>
              </a:rPr>
              <a:t>registrar el ingreso?</a:t>
            </a:r>
          </a:p>
          <a:p>
            <a:pPr algn="ctr">
              <a:spcBef>
                <a:spcPts val="1600"/>
              </a:spcBef>
              <a:spcAft>
                <a:spcPts val="0"/>
              </a:spcAft>
            </a:pPr>
            <a:r>
              <a:rPr sz="1600" b="0" i="0" u="none">
                <a:solidFill>
                  <a:srgbClr val="3E4A57"/>
                </a:solidFill>
                <a:latin typeface="Calibri"/>
                <a:ea typeface="Calibri"/>
                <a:cs typeface="Calibri"/>
              </a:rPr>
              <a:t>Viaja en la petición HTTP</a:t>
            </a:r>
          </a:p>
        </p:txBody>
      </p:sp>
      <p:sp>
        <p:nvSpPr>
          <p:cNvPr id="7" name="Rounded Rectangle 6"/>
          <p:cNvSpPr/>
          <p:nvPr/>
        </p:nvSpPr>
        <p:spPr>
          <a:xfrm>
            <a:off x="6217920" y="2011680"/>
            <a:ext cx="5486400" cy="3931920"/>
          </a:xfrm>
          <a:prstGeom prst="roundRect">
            <a:avLst>
              <a:gd name="adj" fmla="val 6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1600" b="1" i="0" u="none">
                <a:solidFill>
                  <a:srgbClr val="E87A00"/>
                </a:solidFill>
                <a:latin typeface="Calibri"/>
                <a:ea typeface="Calibri"/>
                <a:cs typeface="Calibri"/>
              </a:rPr>
              <a:t>ROL DE IAM</a:t>
            </a:r>
          </a:p>
          <a:p>
            <a:pPr algn="ctr">
              <a:spcBef>
                <a:spcPts val="1600"/>
              </a:spcBef>
              <a:spcAft>
                <a:spcPts val="0"/>
              </a:spcAft>
            </a:pPr>
            <a:r>
              <a:rPr sz="2600" b="1" i="0" u="none">
                <a:solidFill>
                  <a:srgbClr val="1B2838"/>
                </a:solidFill>
                <a:latin typeface="Calibri"/>
                <a:ea typeface="Calibri"/>
                <a:cs typeface="Calibri"/>
              </a:rPr>
              <a:t>¿Este proceso puede</a:t>
            </a:r>
          </a:p>
          <a:p>
            <a:pPr algn="ctr">
              <a:spcBef>
                <a:spcPts val="400"/>
              </a:spcBef>
              <a:spcAft>
                <a:spcPts val="0"/>
              </a:spcAft>
            </a:pPr>
            <a:r>
              <a:rPr sz="2600" b="1" i="0" u="none">
                <a:solidFill>
                  <a:srgbClr val="1B2838"/>
                </a:solidFill>
                <a:latin typeface="Calibri"/>
                <a:ea typeface="Calibri"/>
                <a:cs typeface="Calibri"/>
              </a:rPr>
              <a:t>guardar el PDF en S3?</a:t>
            </a:r>
          </a:p>
          <a:p>
            <a:pPr algn="ctr">
              <a:spcBef>
                <a:spcPts val="1600"/>
              </a:spcBef>
              <a:spcAft>
                <a:spcPts val="0"/>
              </a:spcAft>
            </a:pPr>
            <a:r>
              <a:rPr sz="1600" b="0" i="0" u="none">
                <a:solidFill>
                  <a:srgbClr val="3E4A57"/>
                </a:solidFill>
                <a:latin typeface="Calibri"/>
                <a:ea typeface="Calibri"/>
                <a:cs typeface="Calibri"/>
              </a:rPr>
              <a:t>Credencial temporal, sin llave en el código</a:t>
            </a:r>
          </a:p>
        </p:txBody>
      </p:sp>
      <p:sp>
        <p:nvSpPr>
          <p:cNvPr id="8" name="TextBox 7"/>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9" name="TextBox 8"/>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CÓMO SE USA</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Cinco pasos</a:t>
            </a:r>
          </a:p>
        </p:txBody>
      </p:sp>
      <p:sp>
        <p:nvSpPr>
          <p:cNvPr id="6" name="Rounded Rectangle 5"/>
          <p:cNvSpPr/>
          <p:nvPr/>
        </p:nvSpPr>
        <p:spPr>
          <a:xfrm>
            <a:off x="411480" y="2148840"/>
            <a:ext cx="2194560" cy="2880360"/>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4000" b="1" i="0" u="none">
                <a:solidFill>
                  <a:srgbClr val="E87A00"/>
                </a:solidFill>
                <a:latin typeface="Calibri"/>
                <a:ea typeface="Calibri"/>
                <a:cs typeface="Calibri"/>
              </a:rPr>
              <a:t>1</a:t>
            </a:r>
          </a:p>
          <a:p>
            <a:pPr algn="ctr">
              <a:spcBef>
                <a:spcPts val="1000"/>
              </a:spcBef>
              <a:spcAft>
                <a:spcPts val="0"/>
              </a:spcAft>
            </a:pPr>
            <a:r>
              <a:rPr sz="2000" b="1" i="0" u="none">
                <a:solidFill>
                  <a:srgbClr val="1B2838"/>
                </a:solidFill>
                <a:latin typeface="Calibri"/>
                <a:ea typeface="Calibri"/>
                <a:cs typeface="Calibri"/>
              </a:rPr>
              <a:t>Cuenta</a:t>
            </a:r>
          </a:p>
          <a:p>
            <a:pPr algn="ctr">
              <a:spcBef>
                <a:spcPts val="0"/>
              </a:spcBef>
              <a:spcAft>
                <a:spcPts val="0"/>
              </a:spcAft>
            </a:pPr>
            <a:r>
              <a:rPr sz="2000" b="1" i="0" u="none">
                <a:solidFill>
                  <a:srgbClr val="1B2838"/>
                </a:solidFill>
                <a:latin typeface="Calibri"/>
                <a:ea typeface="Calibri"/>
                <a:cs typeface="Calibri"/>
              </a:rPr>
              <a:t>y región</a:t>
            </a:r>
          </a:p>
        </p:txBody>
      </p:sp>
      <p:sp>
        <p:nvSpPr>
          <p:cNvPr id="7" name="Rounded Rectangle 6"/>
          <p:cNvSpPr/>
          <p:nvPr/>
        </p:nvSpPr>
        <p:spPr>
          <a:xfrm>
            <a:off x="2770632" y="2148840"/>
            <a:ext cx="2194560" cy="2880360"/>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4000" b="1" i="0" u="none">
                <a:solidFill>
                  <a:srgbClr val="E87A00"/>
                </a:solidFill>
                <a:latin typeface="Calibri"/>
                <a:ea typeface="Calibri"/>
                <a:cs typeface="Calibri"/>
              </a:rPr>
              <a:t>2</a:t>
            </a:r>
          </a:p>
          <a:p>
            <a:pPr algn="ctr">
              <a:spcBef>
                <a:spcPts val="1000"/>
              </a:spcBef>
              <a:spcAft>
                <a:spcPts val="0"/>
              </a:spcAft>
            </a:pPr>
            <a:r>
              <a:rPr sz="2000" b="1" i="0" u="none">
                <a:solidFill>
                  <a:srgbClr val="1B2838"/>
                </a:solidFill>
                <a:latin typeface="Calibri"/>
                <a:ea typeface="Calibri"/>
                <a:cs typeface="Calibri"/>
              </a:rPr>
              <a:t>RDS y bucket</a:t>
            </a:r>
          </a:p>
          <a:p>
            <a:pPr algn="ctr">
              <a:spcBef>
                <a:spcPts val="0"/>
              </a:spcBef>
              <a:spcAft>
                <a:spcPts val="0"/>
              </a:spcAft>
            </a:pPr>
            <a:r>
              <a:rPr sz="2000" b="1" i="0" u="none">
                <a:solidFill>
                  <a:srgbClr val="1B2838"/>
                </a:solidFill>
                <a:latin typeface="Calibri"/>
                <a:ea typeface="Calibri"/>
                <a:cs typeface="Calibri"/>
              </a:rPr>
              <a:t>privados</a:t>
            </a:r>
          </a:p>
        </p:txBody>
      </p:sp>
      <p:sp>
        <p:nvSpPr>
          <p:cNvPr id="8" name="Rounded Rectangle 7"/>
          <p:cNvSpPr/>
          <p:nvPr/>
        </p:nvSpPr>
        <p:spPr>
          <a:xfrm>
            <a:off x="5129784" y="2148840"/>
            <a:ext cx="2194560" cy="2880360"/>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4000" b="1" i="0" u="none">
                <a:solidFill>
                  <a:srgbClr val="E87A00"/>
                </a:solidFill>
                <a:latin typeface="Calibri"/>
                <a:ea typeface="Calibri"/>
                <a:cs typeface="Calibri"/>
              </a:rPr>
              <a:t>3</a:t>
            </a:r>
          </a:p>
          <a:p>
            <a:pPr algn="ctr">
              <a:spcBef>
                <a:spcPts val="1000"/>
              </a:spcBef>
              <a:spcAft>
                <a:spcPts val="0"/>
              </a:spcAft>
            </a:pPr>
            <a:r>
              <a:rPr sz="2000" b="1" i="0" u="none">
                <a:solidFill>
                  <a:srgbClr val="1B2838"/>
                </a:solidFill>
                <a:latin typeface="Calibri"/>
                <a:ea typeface="Calibri"/>
                <a:cs typeface="Calibri"/>
              </a:rPr>
              <a:t>Imagen</a:t>
            </a:r>
          </a:p>
          <a:p>
            <a:pPr algn="ctr">
              <a:spcBef>
                <a:spcPts val="0"/>
              </a:spcBef>
              <a:spcAft>
                <a:spcPts val="0"/>
              </a:spcAft>
            </a:pPr>
            <a:r>
              <a:rPr sz="2000" b="1" i="0" u="none">
                <a:solidFill>
                  <a:srgbClr val="1B2838"/>
                </a:solidFill>
                <a:latin typeface="Calibri"/>
                <a:ea typeface="Calibri"/>
                <a:cs typeface="Calibri"/>
              </a:rPr>
              <a:t>en ECR</a:t>
            </a:r>
          </a:p>
        </p:txBody>
      </p:sp>
      <p:sp>
        <p:nvSpPr>
          <p:cNvPr id="9" name="Rounded Rectangle 8"/>
          <p:cNvSpPr/>
          <p:nvPr/>
        </p:nvSpPr>
        <p:spPr>
          <a:xfrm>
            <a:off x="7488936" y="2148840"/>
            <a:ext cx="2194560" cy="2880360"/>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4000" b="1" i="0" u="none">
                <a:solidFill>
                  <a:srgbClr val="E87A00"/>
                </a:solidFill>
                <a:latin typeface="Calibri"/>
                <a:ea typeface="Calibri"/>
                <a:cs typeface="Calibri"/>
              </a:rPr>
              <a:t>4</a:t>
            </a:r>
          </a:p>
          <a:p>
            <a:pPr algn="ctr">
              <a:spcBef>
                <a:spcPts val="1000"/>
              </a:spcBef>
              <a:spcAft>
                <a:spcPts val="0"/>
              </a:spcAft>
            </a:pPr>
            <a:r>
              <a:rPr sz="2000" b="1" i="0" u="none">
                <a:solidFill>
                  <a:srgbClr val="1B2838"/>
                </a:solidFill>
                <a:latin typeface="Calibri"/>
                <a:ea typeface="Calibri"/>
                <a:cs typeface="Calibri"/>
              </a:rPr>
              <a:t>Servicio</a:t>
            </a:r>
          </a:p>
          <a:p>
            <a:pPr algn="ctr">
              <a:spcBef>
                <a:spcPts val="0"/>
              </a:spcBef>
              <a:spcAft>
                <a:spcPts val="0"/>
              </a:spcAft>
            </a:pPr>
            <a:r>
              <a:rPr sz="2000" b="1" i="0" u="none">
                <a:solidFill>
                  <a:srgbClr val="1B2838"/>
                </a:solidFill>
                <a:latin typeface="Calibri"/>
                <a:ea typeface="Calibri"/>
                <a:cs typeface="Calibri"/>
              </a:rPr>
              <a:t>en Fargate</a:t>
            </a:r>
          </a:p>
        </p:txBody>
      </p:sp>
      <p:sp>
        <p:nvSpPr>
          <p:cNvPr id="10" name="Rounded Rectangle 9"/>
          <p:cNvSpPr/>
          <p:nvPr/>
        </p:nvSpPr>
        <p:spPr>
          <a:xfrm>
            <a:off x="9848088" y="2148840"/>
            <a:ext cx="2194560" cy="2880360"/>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4000" b="1" i="0" u="none">
                <a:solidFill>
                  <a:srgbClr val="E87A00"/>
                </a:solidFill>
                <a:latin typeface="Calibri"/>
                <a:ea typeface="Calibri"/>
                <a:cs typeface="Calibri"/>
              </a:rPr>
              <a:t>5</a:t>
            </a:r>
          </a:p>
          <a:p>
            <a:pPr algn="ctr">
              <a:spcBef>
                <a:spcPts val="1000"/>
              </a:spcBef>
              <a:spcAft>
                <a:spcPts val="0"/>
              </a:spcAft>
            </a:pPr>
            <a:r>
              <a:rPr sz="2000" b="1" i="0" u="none">
                <a:solidFill>
                  <a:srgbClr val="1B2838"/>
                </a:solidFill>
                <a:latin typeface="Calibri"/>
                <a:ea typeface="Calibri"/>
                <a:cs typeface="Calibri"/>
              </a:rPr>
              <a:t>Probar</a:t>
            </a:r>
          </a:p>
          <a:p>
            <a:pPr algn="ctr">
              <a:spcBef>
                <a:spcPts val="0"/>
              </a:spcBef>
              <a:spcAft>
                <a:spcPts val="0"/>
              </a:spcAft>
            </a:pPr>
            <a:r>
              <a:rPr sz="2000" b="1" i="0" u="none">
                <a:solidFill>
                  <a:srgbClr val="1B2838"/>
                </a:solidFill>
                <a:latin typeface="Calibri"/>
                <a:ea typeface="Calibri"/>
                <a:cs typeface="Calibri"/>
              </a:rPr>
              <a:t>y borrar</a:t>
            </a:r>
          </a:p>
        </p:txBody>
      </p:sp>
      <p:sp>
        <p:nvSpPr>
          <p:cNvPr id="11" name="TextBox 10"/>
          <p:cNvSpPr txBox="1"/>
          <p:nvPr/>
        </p:nvSpPr>
        <p:spPr>
          <a:xfrm>
            <a:off x="502920" y="5303520"/>
            <a:ext cx="11155680" cy="822960"/>
          </a:xfrm>
          <a:prstGeom prst="rect">
            <a:avLst/>
          </a:prstGeom>
          <a:noFill/>
        </p:spPr>
        <p:txBody>
          <a:bodyPr wrap="square" lIns="0" rIns="0" tIns="0" bIns="0"/>
          <a:lstStyle/>
          <a:p>
            <a:pPr algn="l">
              <a:spcBef>
                <a:spcPts val="0"/>
              </a:spcBef>
              <a:spcAft>
                <a:spcPts val="0"/>
              </a:spcAft>
            </a:pPr>
            <a:r>
              <a:rPr sz="2200" b="1" i="0" u="none">
                <a:solidFill>
                  <a:srgbClr val="1B2838"/>
                </a:solidFill>
                <a:latin typeface="Calibri"/>
                <a:ea typeface="Calibri"/>
                <a:cs typeface="Calibri"/>
              </a:rPr>
              <a:t>La contraseña de MySQL no va en la imagen.</a:t>
            </a:r>
          </a:p>
          <a:p>
            <a:pPr algn="l">
              <a:spcBef>
                <a:spcPts val="0"/>
              </a:spcBef>
              <a:spcAft>
                <a:spcPts val="0"/>
              </a:spcAft>
            </a:pPr>
            <a:r>
              <a:rPr sz="2000" b="0" i="0" u="none">
                <a:solidFill>
                  <a:srgbClr val="3E4A57"/>
                </a:solidFill>
                <a:latin typeface="Calibri"/>
                <a:ea typeface="Calibri"/>
                <a:cs typeface="Calibri"/>
              </a:rPr>
              <a:t>Al terminar la práctica se borran el servicio, la instancia y el bucket.</a:t>
            </a:r>
          </a:p>
        </p:txBody>
      </p:sp>
      <p:sp>
        <p:nvSpPr>
          <p:cNvPr id="12" name="TextBox 11"/>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3" name="TextBox 12"/>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3   ·   EJEMPLO</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Un ingreso, fuera del sistema del curso</a:t>
            </a:r>
          </a:p>
        </p:txBody>
      </p:sp>
      <p:sp>
        <p:nvSpPr>
          <p:cNvPr id="6" name="TextBox 5"/>
          <p:cNvSpPr txBox="1"/>
          <p:nvPr/>
        </p:nvSpPr>
        <p:spPr>
          <a:xfrm>
            <a:off x="502920" y="1874519"/>
            <a:ext cx="11155680" cy="640080"/>
          </a:xfrm>
          <a:prstGeom prst="rect">
            <a:avLst/>
          </a:prstGeom>
          <a:noFill/>
        </p:spPr>
        <p:txBody>
          <a:bodyPr wrap="square" lIns="0" rIns="0" tIns="0" bIns="0"/>
          <a:lstStyle/>
          <a:p>
            <a:pPr algn="l">
              <a:spcBef>
                <a:spcPts val="0"/>
              </a:spcBef>
              <a:spcAft>
                <a:spcPts val="0"/>
              </a:spcAft>
            </a:pPr>
            <a:r>
              <a:rPr sz="2000" b="0" i="0" u="none">
                <a:solidFill>
                  <a:srgbClr val="3E4A57"/>
                </a:solidFill>
                <a:latin typeface="Calibri"/>
                <a:ea typeface="Calibri"/>
                <a:cs typeface="Calibri"/>
              </a:rPr>
              <a:t>No se implementa en el Sistema General de Ingresos. Es una API del mismo tipo.</a:t>
            </a:r>
          </a:p>
        </p:txBody>
      </p:sp>
      <p:sp>
        <p:nvSpPr>
          <p:cNvPr id="7" name="Rounded Rectangle 6"/>
          <p:cNvSpPr/>
          <p:nvPr/>
        </p:nvSpPr>
        <p:spPr>
          <a:xfrm>
            <a:off x="411480" y="2651760"/>
            <a:ext cx="2788920" cy="3063240"/>
          </a:xfrm>
          <a:prstGeom prst="roundRect">
            <a:avLst>
              <a:gd name="adj" fmla="val 8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1800" b="1" i="0" u="none">
                <a:solidFill>
                  <a:srgbClr val="E87A00"/>
                </a:solidFill>
                <a:latin typeface="Calibri"/>
                <a:ea typeface="Calibri"/>
                <a:cs typeface="Calibri"/>
              </a:rPr>
              <a:t>POST  /ingresos</a:t>
            </a:r>
          </a:p>
          <a:p>
            <a:pPr algn="ctr">
              <a:spcBef>
                <a:spcPts val="1200"/>
              </a:spcBef>
              <a:spcAft>
                <a:spcPts val="0"/>
              </a:spcAft>
            </a:pPr>
            <a:r>
              <a:rPr sz="1600" b="0" i="0" u="none">
                <a:solidFill>
                  <a:srgbClr val="D5DEE6"/>
                </a:solidFill>
                <a:latin typeface="Calibri"/>
                <a:ea typeface="Calibri"/>
                <a:cs typeface="Calibri"/>
              </a:rPr>
              <a:t>Monto, concepto, fecha y el PDF.</a:t>
            </a:r>
          </a:p>
          <a:p>
            <a:pPr algn="ctr">
              <a:spcBef>
                <a:spcPts val="0"/>
              </a:spcBef>
              <a:spcAft>
                <a:spcPts val="0"/>
              </a:spcAft>
            </a:pPr>
            <a:r>
              <a:rPr sz="1600" b="0" i="0" u="none">
                <a:solidFill>
                  <a:srgbClr val="D5DEE6"/>
                </a:solidFill>
                <a:latin typeface="Calibri"/>
                <a:ea typeface="Calibri"/>
                <a:cs typeface="Calibri"/>
              </a:rPr>
              <a:t>Primero se valida el token.</a:t>
            </a:r>
          </a:p>
        </p:txBody>
      </p:sp>
      <p:sp>
        <p:nvSpPr>
          <p:cNvPr id="8" name="Rounded Rectangle 7"/>
          <p:cNvSpPr/>
          <p:nvPr/>
        </p:nvSpPr>
        <p:spPr>
          <a:xfrm>
            <a:off x="3355848" y="2651760"/>
            <a:ext cx="2788920" cy="306324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1800" b="1" i="0" u="none">
                <a:solidFill>
                  <a:srgbClr val="E87A00"/>
                </a:solidFill>
                <a:latin typeface="Calibri"/>
                <a:ea typeface="Calibri"/>
                <a:cs typeface="Calibri"/>
              </a:rPr>
              <a:t>RDS</a:t>
            </a:r>
          </a:p>
          <a:p>
            <a:pPr algn="ctr">
              <a:spcBef>
                <a:spcPts val="1200"/>
              </a:spcBef>
              <a:spcAft>
                <a:spcPts val="0"/>
              </a:spcAft>
            </a:pPr>
            <a:r>
              <a:rPr sz="1600" b="0" i="0" u="none">
                <a:solidFill>
                  <a:srgbClr val="1A1F26"/>
                </a:solidFill>
                <a:latin typeface="Calibri"/>
                <a:ea typeface="Calibri"/>
                <a:cs typeface="Calibri"/>
              </a:rPr>
              <a:t>Inserta la fila y guarda</a:t>
            </a:r>
          </a:p>
          <a:p>
            <a:pPr algn="ctr">
              <a:spcBef>
                <a:spcPts val="0"/>
              </a:spcBef>
              <a:spcAft>
                <a:spcPts val="0"/>
              </a:spcAft>
            </a:pPr>
            <a:r>
              <a:rPr sz="1600" b="0" i="0" u="none">
                <a:solidFill>
                  <a:srgbClr val="1A1F26"/>
                </a:solidFill>
                <a:latin typeface="Calibri"/>
                <a:ea typeface="Calibri"/>
                <a:cs typeface="Calibri"/>
              </a:rPr>
              <a:t>la clave del comprobante.</a:t>
            </a:r>
          </a:p>
        </p:txBody>
      </p:sp>
      <p:sp>
        <p:nvSpPr>
          <p:cNvPr id="9" name="Rounded Rectangle 8"/>
          <p:cNvSpPr/>
          <p:nvPr/>
        </p:nvSpPr>
        <p:spPr>
          <a:xfrm>
            <a:off x="6300216" y="2651760"/>
            <a:ext cx="2788920" cy="3063240"/>
          </a:xfrm>
          <a:prstGeom prst="roundRect">
            <a:avLst>
              <a:gd name="adj" fmla="val 8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1800" b="1" i="0" u="none">
                <a:solidFill>
                  <a:srgbClr val="E87A00"/>
                </a:solidFill>
                <a:latin typeface="Calibri"/>
                <a:ea typeface="Calibri"/>
                <a:cs typeface="Calibri"/>
              </a:rPr>
              <a:t>S3</a:t>
            </a:r>
          </a:p>
          <a:p>
            <a:pPr algn="ctr">
              <a:spcBef>
                <a:spcPts val="1200"/>
              </a:spcBef>
              <a:spcAft>
                <a:spcPts val="0"/>
              </a:spcAft>
            </a:pPr>
            <a:r>
              <a:rPr sz="1600" b="0" i="0" u="none">
                <a:solidFill>
                  <a:srgbClr val="D5DEE6"/>
                </a:solidFill>
                <a:latin typeface="Calibri"/>
                <a:ea typeface="Calibri"/>
                <a:cs typeface="Calibri"/>
              </a:rPr>
              <a:t>Recibe el PDF con el rol</a:t>
            </a:r>
          </a:p>
          <a:p>
            <a:pPr algn="ctr">
              <a:spcBef>
                <a:spcPts val="0"/>
              </a:spcBef>
              <a:spcAft>
                <a:spcPts val="0"/>
              </a:spcAft>
            </a:pPr>
            <a:r>
              <a:rPr sz="1600" b="0" i="0" u="none">
                <a:solidFill>
                  <a:srgbClr val="D5DEE6"/>
                </a:solidFill>
                <a:latin typeface="Calibri"/>
                <a:ea typeface="Calibri"/>
                <a:cs typeface="Calibri"/>
              </a:rPr>
              <a:t>de la tarea, no con una llave.</a:t>
            </a:r>
          </a:p>
        </p:txBody>
      </p:sp>
      <p:sp>
        <p:nvSpPr>
          <p:cNvPr id="10" name="Rounded Rectangle 9"/>
          <p:cNvSpPr/>
          <p:nvPr/>
        </p:nvSpPr>
        <p:spPr>
          <a:xfrm>
            <a:off x="9244584" y="2651760"/>
            <a:ext cx="2788920" cy="3063240"/>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1800" b="1" i="0" u="none">
                <a:solidFill>
                  <a:srgbClr val="E87A00"/>
                </a:solidFill>
                <a:latin typeface="Calibri"/>
                <a:ea typeface="Calibri"/>
                <a:cs typeface="Calibri"/>
              </a:rPr>
              <a:t>GET  /ingresos/184</a:t>
            </a:r>
          </a:p>
          <a:p>
            <a:pPr algn="ctr">
              <a:spcBef>
                <a:spcPts val="1200"/>
              </a:spcBef>
              <a:spcAft>
                <a:spcPts val="0"/>
              </a:spcAft>
            </a:pPr>
            <a:r>
              <a:rPr sz="1600" b="0" i="0" u="none">
                <a:solidFill>
                  <a:srgbClr val="1A1F26"/>
                </a:solidFill>
                <a:latin typeface="Calibri"/>
                <a:ea typeface="Calibri"/>
                <a:cs typeface="Calibri"/>
              </a:rPr>
              <a:t>Devuelve la fila y, si piden</a:t>
            </a:r>
          </a:p>
          <a:p>
            <a:pPr algn="ctr">
              <a:spcBef>
                <a:spcPts val="0"/>
              </a:spcBef>
              <a:spcAft>
                <a:spcPts val="0"/>
              </a:spcAft>
            </a:pPr>
            <a:r>
              <a:rPr sz="1600" b="0" i="0" u="none">
                <a:solidFill>
                  <a:srgbClr val="1A1F26"/>
                </a:solidFill>
                <a:latin typeface="Calibri"/>
                <a:ea typeface="Calibri"/>
                <a:cs typeface="Calibri"/>
              </a:rPr>
              <a:t>el archivo, una URL temporal.</a:t>
            </a:r>
          </a:p>
        </p:txBody>
      </p:sp>
      <p:sp>
        <p:nvSpPr>
          <p:cNvPr id="11" name="TextBox 10"/>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2" name="TextBox 11"/>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EL EJEMPLO, ARMADO</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Cliente, API, MySQL y archivo</a:t>
            </a:r>
          </a:p>
        </p:txBody>
      </p:sp>
      <p:sp>
        <p:nvSpPr>
          <p:cNvPr id="6" name="Rounded Rectangle 5"/>
          <p:cNvSpPr/>
          <p:nvPr/>
        </p:nvSpPr>
        <p:spPr>
          <a:xfrm>
            <a:off x="4480560" y="1783080"/>
            <a:ext cx="3200400" cy="960120"/>
          </a:xfrm>
          <a:prstGeom prst="roundRect">
            <a:avLst>
              <a:gd name="adj" fmla="val 12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000" b="1" i="0" u="none">
                <a:solidFill>
                  <a:srgbClr val="FFFFFF"/>
                </a:solidFill>
                <a:latin typeface="Calibri"/>
                <a:ea typeface="Calibri"/>
                <a:cs typeface="Calibri"/>
              </a:rPr>
              <a:t>Cliente con token</a:t>
            </a:r>
          </a:p>
        </p:txBody>
      </p:sp>
      <p:sp>
        <p:nvSpPr>
          <p:cNvPr id="7" name="Down Arrow 6"/>
          <p:cNvSpPr/>
          <p:nvPr/>
        </p:nvSpPr>
        <p:spPr>
          <a:xfrm>
            <a:off x="5852160" y="2834640"/>
            <a:ext cx="438912" cy="347472"/>
          </a:xfrm>
          <a:prstGeom prst="downArrow">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94760" y="3246120"/>
            <a:ext cx="4572000" cy="1097280"/>
          </a:xfrm>
          <a:prstGeom prst="roundRect">
            <a:avLst>
              <a:gd name="adj" fmla="val 12000"/>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200" b="1" i="0" u="none">
                <a:solidFill>
                  <a:srgbClr val="1B2838"/>
                </a:solidFill>
                <a:latin typeface="Calibri"/>
                <a:ea typeface="Calibri"/>
                <a:cs typeface="Calibri"/>
              </a:rPr>
              <a:t>API en Fargate</a:t>
            </a:r>
          </a:p>
          <a:p>
            <a:pPr algn="ctr">
              <a:spcBef>
                <a:spcPts val="200"/>
              </a:spcBef>
              <a:spcAft>
                <a:spcPts val="0"/>
              </a:spcAft>
            </a:pPr>
            <a:r>
              <a:rPr sz="1400" b="0" i="0" u="none">
                <a:solidFill>
                  <a:srgbClr val="121A24"/>
                </a:solidFill>
                <a:latin typeface="Calibri"/>
                <a:ea typeface="Calibri"/>
                <a:cs typeface="Calibri"/>
              </a:rPr>
              <a:t>HTTPS   ·   Express Mode</a:t>
            </a:r>
          </a:p>
        </p:txBody>
      </p:sp>
      <p:sp>
        <p:nvSpPr>
          <p:cNvPr id="9" name="Rounded Rectangle 8"/>
          <p:cNvSpPr/>
          <p:nvPr/>
        </p:nvSpPr>
        <p:spPr>
          <a:xfrm>
            <a:off x="640080" y="4892040"/>
            <a:ext cx="3931920" cy="1234440"/>
          </a:xfrm>
          <a:prstGeom prst="roundRect">
            <a:avLst>
              <a:gd name="adj" fmla="val 12000"/>
            </a:avLst>
          </a:prstGeom>
          <a:solidFill>
            <a:srgbClr val="0F6E62"/>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000" b="1" i="0" u="none">
                <a:solidFill>
                  <a:srgbClr val="FFFFFF"/>
                </a:solidFill>
                <a:latin typeface="Calibri"/>
                <a:ea typeface="Calibri"/>
                <a:cs typeface="Calibri"/>
              </a:rPr>
              <a:t>RDS for MySQL</a:t>
            </a:r>
          </a:p>
          <a:p>
            <a:pPr algn="ctr">
              <a:spcBef>
                <a:spcPts val="200"/>
              </a:spcBef>
              <a:spcAft>
                <a:spcPts val="0"/>
              </a:spcAft>
            </a:pPr>
            <a:r>
              <a:rPr sz="1500" b="0" i="0" u="none">
                <a:solidFill>
                  <a:srgbClr val="D8F5EF"/>
                </a:solidFill>
                <a:latin typeface="Calibri"/>
                <a:ea typeface="Calibri"/>
                <a:cs typeface="Calibri"/>
              </a:rPr>
              <a:t>la fila del ingreso</a:t>
            </a:r>
          </a:p>
        </p:txBody>
      </p:sp>
      <p:sp>
        <p:nvSpPr>
          <p:cNvPr id="10" name="Rounded Rectangle 9"/>
          <p:cNvSpPr/>
          <p:nvPr/>
        </p:nvSpPr>
        <p:spPr>
          <a:xfrm>
            <a:off x="7589520" y="4892040"/>
            <a:ext cx="3931920" cy="1234440"/>
          </a:xfrm>
          <a:prstGeom prst="roundRect">
            <a:avLst>
              <a:gd name="adj" fmla="val 12000"/>
            </a:avLst>
          </a:prstGeom>
          <a:solidFill>
            <a:srgbClr val="B84A12"/>
          </a:solidFill>
          <a:ln>
            <a:no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spcBef>
                <a:spcPts val="0"/>
              </a:spcBef>
              <a:spcAft>
                <a:spcPts val="0"/>
              </a:spcAft>
            </a:pPr>
            <a:r>
              <a:rPr sz="2000" b="1" i="0" u="none">
                <a:solidFill>
                  <a:srgbClr val="FFFFFF"/>
                </a:solidFill>
                <a:latin typeface="Calibri"/>
                <a:ea typeface="Calibri"/>
                <a:cs typeface="Calibri"/>
              </a:rPr>
              <a:t>S3</a:t>
            </a:r>
          </a:p>
          <a:p>
            <a:pPr algn="ctr">
              <a:spcBef>
                <a:spcPts val="200"/>
              </a:spcBef>
              <a:spcAft>
                <a:spcPts val="0"/>
              </a:spcAft>
            </a:pPr>
            <a:r>
              <a:rPr sz="1500" b="0" i="0" u="none">
                <a:solidFill>
                  <a:srgbClr val="FFE4D6"/>
                </a:solidFill>
                <a:latin typeface="Calibri"/>
                <a:ea typeface="Calibri"/>
                <a:cs typeface="Calibri"/>
              </a:rPr>
              <a:t>el PDF del comprobante</a:t>
            </a:r>
          </a:p>
        </p:txBody>
      </p:sp>
      <p:cxnSp>
        <p:nvCxnSpPr>
          <p:cNvPr id="11" name="Connector 10"/>
          <p:cNvCxnSpPr/>
          <p:nvPr/>
        </p:nvCxnSpPr>
        <p:spPr>
          <a:xfrm flipH="1">
            <a:off x="2606040" y="4343400"/>
            <a:ext cx="3474720" cy="521208"/>
          </a:xfrm>
          <a:prstGeom prst="line">
            <a:avLst/>
          </a:prstGeom>
          <a:ln w="28575">
            <a:solidFill>
              <a:srgbClr val="0F6E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80760" y="4343400"/>
            <a:ext cx="3474720" cy="521208"/>
          </a:xfrm>
          <a:prstGeom prst="line">
            <a:avLst/>
          </a:prstGeom>
          <a:ln w="28575">
            <a:solidFill>
              <a:srgbClr val="B84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4" name="TextBox 13"/>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4   ·   EL CURSO</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Qué se parece y qué cambia</a:t>
            </a:r>
          </a:p>
        </p:txBody>
      </p:sp>
      <p:sp>
        <p:nvSpPr>
          <p:cNvPr id="6" name="TextBox 5"/>
          <p:cNvSpPr txBox="1"/>
          <p:nvPr/>
        </p:nvSpPr>
        <p:spPr>
          <a:xfrm>
            <a:off x="640080" y="1874519"/>
            <a:ext cx="3291840" cy="365760"/>
          </a:xfrm>
          <a:prstGeom prst="rect">
            <a:avLst/>
          </a:prstGeom>
          <a:noFill/>
        </p:spPr>
        <p:txBody>
          <a:bodyPr wrap="square" lIns="0" rIns="0" tIns="0" bIns="0"/>
          <a:lstStyle/>
          <a:p>
            <a:pPr algn="l">
              <a:spcBef>
                <a:spcPts val="0"/>
              </a:spcBef>
              <a:spcAft>
                <a:spcPts val="0"/>
              </a:spcAft>
            </a:pPr>
            <a:r>
              <a:rPr sz="1300" b="1" i="0" u="none">
                <a:solidFill>
                  <a:srgbClr val="3E4A57"/>
                </a:solidFill>
                <a:latin typeface="Calibri"/>
                <a:ea typeface="Calibri"/>
                <a:cs typeface="Calibri"/>
              </a:rPr>
              <a:t>YA LO VIMOS</a:t>
            </a:r>
          </a:p>
        </p:txBody>
      </p:sp>
      <p:sp>
        <p:nvSpPr>
          <p:cNvPr id="7" name="TextBox 6"/>
          <p:cNvSpPr txBox="1"/>
          <p:nvPr/>
        </p:nvSpPr>
        <p:spPr>
          <a:xfrm>
            <a:off x="4114800" y="1874519"/>
            <a:ext cx="3474720" cy="365760"/>
          </a:xfrm>
          <a:prstGeom prst="rect">
            <a:avLst/>
          </a:prstGeom>
          <a:noFill/>
        </p:spPr>
        <p:txBody>
          <a:bodyPr wrap="square" lIns="0" rIns="0" tIns="0" bIns="0"/>
          <a:lstStyle/>
          <a:p>
            <a:pPr algn="l">
              <a:spcBef>
                <a:spcPts val="0"/>
              </a:spcBef>
              <a:spcAft>
                <a:spcPts val="0"/>
              </a:spcAft>
            </a:pPr>
            <a:r>
              <a:rPr sz="1300" b="1" i="0" u="none">
                <a:solidFill>
                  <a:srgbClr val="3E4A57"/>
                </a:solidFill>
                <a:latin typeface="Calibri"/>
                <a:ea typeface="Calibri"/>
                <a:cs typeface="Calibri"/>
              </a:rPr>
              <a:t>SE CONSERVA</a:t>
            </a:r>
          </a:p>
        </p:txBody>
      </p:sp>
      <p:sp>
        <p:nvSpPr>
          <p:cNvPr id="8" name="TextBox 7"/>
          <p:cNvSpPr txBox="1"/>
          <p:nvPr/>
        </p:nvSpPr>
        <p:spPr>
          <a:xfrm>
            <a:off x="7863840" y="1874519"/>
            <a:ext cx="3840480" cy="365760"/>
          </a:xfrm>
          <a:prstGeom prst="rect">
            <a:avLst/>
          </a:prstGeom>
          <a:noFill/>
        </p:spPr>
        <p:txBody>
          <a:bodyPr wrap="square" lIns="0" rIns="0" tIns="0" bIns="0"/>
          <a:lstStyle/>
          <a:p>
            <a:pPr algn="l">
              <a:spcBef>
                <a:spcPts val="0"/>
              </a:spcBef>
              <a:spcAft>
                <a:spcPts val="0"/>
              </a:spcAft>
            </a:pPr>
            <a:r>
              <a:rPr sz="1300" b="1" i="0" u="none">
                <a:solidFill>
                  <a:srgbClr val="3E4A57"/>
                </a:solidFill>
                <a:latin typeface="Calibri"/>
                <a:ea typeface="Calibri"/>
                <a:cs typeface="Calibri"/>
              </a:rPr>
              <a:t>CAMBIA EN AWS</a:t>
            </a:r>
          </a:p>
        </p:txBody>
      </p:sp>
      <p:sp>
        <p:nvSpPr>
          <p:cNvPr id="9" name="Rounded Rectangle 8"/>
          <p:cNvSpPr/>
          <p:nvPr/>
        </p:nvSpPr>
        <p:spPr>
          <a:xfrm>
            <a:off x="502920" y="2331720"/>
            <a:ext cx="11155680" cy="107899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24327"/>
            <a:ext cx="3108960" cy="502920"/>
          </a:xfrm>
          <a:prstGeom prst="rect">
            <a:avLst/>
          </a:prstGeom>
          <a:noFill/>
        </p:spPr>
        <p:txBody>
          <a:bodyPr wrap="square" lIns="0" rIns="0" tIns="0" bIns="0"/>
          <a:lstStyle/>
          <a:p>
            <a:pPr algn="l">
              <a:spcBef>
                <a:spcPts val="0"/>
              </a:spcBef>
              <a:spcAft>
                <a:spcPts val="0"/>
              </a:spcAft>
            </a:pPr>
            <a:r>
              <a:rPr sz="2600" b="1" i="0" u="none">
                <a:solidFill>
                  <a:srgbClr val="E87A00"/>
                </a:solidFill>
                <a:latin typeface="Calibri"/>
                <a:ea typeface="Calibri"/>
                <a:cs typeface="Calibri"/>
              </a:rPr>
              <a:t>Docker</a:t>
            </a:r>
          </a:p>
        </p:txBody>
      </p:sp>
      <p:sp>
        <p:nvSpPr>
          <p:cNvPr id="11" name="TextBox 10"/>
          <p:cNvSpPr txBox="1"/>
          <p:nvPr/>
        </p:nvSpPr>
        <p:spPr>
          <a:xfrm>
            <a:off x="4114800" y="2624327"/>
            <a:ext cx="3474720" cy="502920"/>
          </a:xfrm>
          <a:prstGeom prst="rect">
            <a:avLst/>
          </a:prstGeom>
          <a:noFill/>
        </p:spPr>
        <p:txBody>
          <a:bodyPr wrap="square" lIns="0" rIns="0" tIns="0" bIns="0"/>
          <a:lstStyle/>
          <a:p>
            <a:pPr algn="l">
              <a:spcBef>
                <a:spcPts val="0"/>
              </a:spcBef>
              <a:spcAft>
                <a:spcPts val="0"/>
              </a:spcAft>
            </a:pPr>
            <a:r>
              <a:rPr sz="2200" b="1" i="0" u="none">
                <a:solidFill>
                  <a:srgbClr val="1B2838"/>
                </a:solidFill>
                <a:latin typeface="Calibri"/>
                <a:ea typeface="Calibri"/>
                <a:cs typeface="Calibri"/>
              </a:rPr>
              <a:t>La misma imagen</a:t>
            </a:r>
          </a:p>
        </p:txBody>
      </p:sp>
      <p:sp>
        <p:nvSpPr>
          <p:cNvPr id="12" name="TextBox 11"/>
          <p:cNvSpPr txBox="1"/>
          <p:nvPr/>
        </p:nvSpPr>
        <p:spPr>
          <a:xfrm>
            <a:off x="7863840" y="2624327"/>
            <a:ext cx="3566160" cy="502920"/>
          </a:xfrm>
          <a:prstGeom prst="rect">
            <a:avLst/>
          </a:prstGeom>
          <a:noFill/>
        </p:spPr>
        <p:txBody>
          <a:bodyPr wrap="square" lIns="0" rIns="0" tIns="0" bIns="0"/>
          <a:lstStyle/>
          <a:p>
            <a:pPr algn="l">
              <a:spcBef>
                <a:spcPts val="0"/>
              </a:spcBef>
              <a:spcAft>
                <a:spcPts val="0"/>
              </a:spcAft>
            </a:pPr>
            <a:r>
              <a:rPr sz="1800" b="0" i="0" u="none">
                <a:solidFill>
                  <a:srgbClr val="1A1F26"/>
                </a:solidFill>
                <a:latin typeface="Calibri"/>
                <a:ea typeface="Calibri"/>
                <a:cs typeface="Calibri"/>
              </a:rPr>
              <a:t>ECR la guarda y Fargate la corre</a:t>
            </a:r>
          </a:p>
        </p:txBody>
      </p:sp>
      <p:sp>
        <p:nvSpPr>
          <p:cNvPr id="13" name="Rounded Rectangle 12"/>
          <p:cNvSpPr/>
          <p:nvPr/>
        </p:nvSpPr>
        <p:spPr>
          <a:xfrm>
            <a:off x="502920" y="3566160"/>
            <a:ext cx="11155680" cy="107899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858768"/>
            <a:ext cx="3108960" cy="502920"/>
          </a:xfrm>
          <a:prstGeom prst="rect">
            <a:avLst/>
          </a:prstGeom>
          <a:noFill/>
        </p:spPr>
        <p:txBody>
          <a:bodyPr wrap="square" lIns="0" rIns="0" tIns="0" bIns="0"/>
          <a:lstStyle/>
          <a:p>
            <a:pPr algn="l">
              <a:spcBef>
                <a:spcPts val="0"/>
              </a:spcBef>
              <a:spcAft>
                <a:spcPts val="0"/>
              </a:spcAft>
            </a:pPr>
            <a:r>
              <a:rPr sz="2600" b="1" i="0" u="none">
                <a:solidFill>
                  <a:srgbClr val="E87A00"/>
                </a:solidFill>
                <a:latin typeface="Calibri"/>
                <a:ea typeface="Calibri"/>
                <a:cs typeface="Calibri"/>
              </a:rPr>
              <a:t>MySQL</a:t>
            </a:r>
          </a:p>
        </p:txBody>
      </p:sp>
      <p:sp>
        <p:nvSpPr>
          <p:cNvPr id="15" name="TextBox 14"/>
          <p:cNvSpPr txBox="1"/>
          <p:nvPr/>
        </p:nvSpPr>
        <p:spPr>
          <a:xfrm>
            <a:off x="4114800" y="3858768"/>
            <a:ext cx="3474720" cy="502920"/>
          </a:xfrm>
          <a:prstGeom prst="rect">
            <a:avLst/>
          </a:prstGeom>
          <a:noFill/>
        </p:spPr>
        <p:txBody>
          <a:bodyPr wrap="square" lIns="0" rIns="0" tIns="0" bIns="0"/>
          <a:lstStyle/>
          <a:p>
            <a:pPr algn="l">
              <a:spcBef>
                <a:spcPts val="0"/>
              </a:spcBef>
              <a:spcAft>
                <a:spcPts val="0"/>
              </a:spcAft>
            </a:pPr>
            <a:r>
              <a:rPr sz="2200" b="1" i="0" u="none">
                <a:solidFill>
                  <a:srgbClr val="1B2838"/>
                </a:solidFill>
                <a:latin typeface="Calibri"/>
                <a:ea typeface="Calibri"/>
                <a:cs typeface="Calibri"/>
              </a:rPr>
              <a:t>El mismo SQL</a:t>
            </a:r>
          </a:p>
        </p:txBody>
      </p:sp>
      <p:sp>
        <p:nvSpPr>
          <p:cNvPr id="16" name="TextBox 15"/>
          <p:cNvSpPr txBox="1"/>
          <p:nvPr/>
        </p:nvSpPr>
        <p:spPr>
          <a:xfrm>
            <a:off x="7863840" y="3858768"/>
            <a:ext cx="3566160" cy="502920"/>
          </a:xfrm>
          <a:prstGeom prst="rect">
            <a:avLst/>
          </a:prstGeom>
          <a:noFill/>
        </p:spPr>
        <p:txBody>
          <a:bodyPr wrap="square" lIns="0" rIns="0" tIns="0" bIns="0"/>
          <a:lstStyle/>
          <a:p>
            <a:pPr algn="l">
              <a:spcBef>
                <a:spcPts val="0"/>
              </a:spcBef>
              <a:spcAft>
                <a:spcPts val="0"/>
              </a:spcAft>
            </a:pPr>
            <a:r>
              <a:rPr sz="1800" b="0" i="0" u="none">
                <a:solidFill>
                  <a:srgbClr val="1A1F26"/>
                </a:solidFill>
                <a:latin typeface="Calibri"/>
                <a:ea typeface="Calibri"/>
                <a:cs typeface="Calibri"/>
              </a:rPr>
              <a:t>RDS opera el motor, sin shell</a:t>
            </a:r>
          </a:p>
        </p:txBody>
      </p:sp>
      <p:sp>
        <p:nvSpPr>
          <p:cNvPr id="17" name="Rounded Rectangle 16"/>
          <p:cNvSpPr/>
          <p:nvPr/>
        </p:nvSpPr>
        <p:spPr>
          <a:xfrm>
            <a:off x="502920" y="4800600"/>
            <a:ext cx="11155680" cy="107899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093208"/>
            <a:ext cx="3108960" cy="502920"/>
          </a:xfrm>
          <a:prstGeom prst="rect">
            <a:avLst/>
          </a:prstGeom>
          <a:noFill/>
        </p:spPr>
        <p:txBody>
          <a:bodyPr wrap="square" lIns="0" rIns="0" tIns="0" bIns="0"/>
          <a:lstStyle/>
          <a:p>
            <a:pPr algn="l">
              <a:spcBef>
                <a:spcPts val="0"/>
              </a:spcBef>
              <a:spcAft>
                <a:spcPts val="0"/>
              </a:spcAft>
            </a:pPr>
            <a:r>
              <a:rPr sz="2600" b="1" i="0" u="none">
                <a:solidFill>
                  <a:srgbClr val="E87A00"/>
                </a:solidFill>
                <a:latin typeface="Calibri"/>
                <a:ea typeface="Calibri"/>
                <a:cs typeface="Calibri"/>
              </a:rPr>
              <a:t>Token</a:t>
            </a:r>
          </a:p>
        </p:txBody>
      </p:sp>
      <p:sp>
        <p:nvSpPr>
          <p:cNvPr id="19" name="TextBox 18"/>
          <p:cNvSpPr txBox="1"/>
          <p:nvPr/>
        </p:nvSpPr>
        <p:spPr>
          <a:xfrm>
            <a:off x="4114800" y="5093208"/>
            <a:ext cx="3474720" cy="502920"/>
          </a:xfrm>
          <a:prstGeom prst="rect">
            <a:avLst/>
          </a:prstGeom>
          <a:noFill/>
        </p:spPr>
        <p:txBody>
          <a:bodyPr wrap="square" lIns="0" rIns="0" tIns="0" bIns="0"/>
          <a:lstStyle/>
          <a:p>
            <a:pPr algn="l">
              <a:spcBef>
                <a:spcPts val="0"/>
              </a:spcBef>
              <a:spcAft>
                <a:spcPts val="0"/>
              </a:spcAft>
            </a:pPr>
            <a:r>
              <a:rPr sz="2200" b="1" i="0" u="none">
                <a:solidFill>
                  <a:srgbClr val="1B2838"/>
                </a:solidFill>
                <a:latin typeface="Calibri"/>
                <a:ea typeface="Calibri"/>
                <a:cs typeface="Calibri"/>
              </a:rPr>
              <a:t>Identidad y permiso</a:t>
            </a:r>
          </a:p>
        </p:txBody>
      </p:sp>
      <p:sp>
        <p:nvSpPr>
          <p:cNvPr id="20" name="TextBox 19"/>
          <p:cNvSpPr txBox="1"/>
          <p:nvPr/>
        </p:nvSpPr>
        <p:spPr>
          <a:xfrm>
            <a:off x="7863840" y="5093208"/>
            <a:ext cx="3566160" cy="502920"/>
          </a:xfrm>
          <a:prstGeom prst="rect">
            <a:avLst/>
          </a:prstGeom>
          <a:noFill/>
        </p:spPr>
        <p:txBody>
          <a:bodyPr wrap="square" lIns="0" rIns="0" tIns="0" bIns="0"/>
          <a:lstStyle/>
          <a:p>
            <a:pPr algn="l">
              <a:spcBef>
                <a:spcPts val="0"/>
              </a:spcBef>
              <a:spcAft>
                <a:spcPts val="0"/>
              </a:spcAft>
            </a:pPr>
            <a:r>
              <a:rPr sz="1800" b="0" i="0" u="none">
                <a:solidFill>
                  <a:srgbClr val="1A1F26"/>
                </a:solidFill>
                <a:latin typeface="Calibri"/>
                <a:ea typeface="Calibri"/>
                <a:cs typeface="Calibri"/>
              </a:rPr>
              <a:t>IAM autoriza a la plataforma</a:t>
            </a:r>
          </a:p>
        </p:txBody>
      </p:sp>
      <p:sp>
        <p:nvSpPr>
          <p:cNvPr id="21" name="TextBox 20"/>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22" name="TextBox 21"/>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5   ·   QUÉ SE GANA</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La API sale de la laptop</a:t>
            </a:r>
          </a:p>
        </p:txBody>
      </p:sp>
      <p:sp>
        <p:nvSpPr>
          <p:cNvPr id="6" name="Rounded Rectangle 5"/>
          <p:cNvSpPr/>
          <p:nvPr/>
        </p:nvSpPr>
        <p:spPr>
          <a:xfrm>
            <a:off x="502920" y="1965960"/>
            <a:ext cx="11155680" cy="89611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167128"/>
            <a:ext cx="1188720" cy="502920"/>
          </a:xfrm>
          <a:prstGeom prst="rect">
            <a:avLst/>
          </a:prstGeom>
          <a:noFill/>
        </p:spPr>
        <p:txBody>
          <a:bodyPr wrap="square" lIns="0" rIns="0" tIns="0" bIns="0"/>
          <a:lstStyle/>
          <a:p>
            <a:pPr algn="l">
              <a:spcBef>
                <a:spcPts val="0"/>
              </a:spcBef>
              <a:spcAft>
                <a:spcPts val="0"/>
              </a:spcAft>
            </a:pPr>
            <a:r>
              <a:rPr sz="2400" b="1" i="0" u="none">
                <a:solidFill>
                  <a:srgbClr val="E87A00"/>
                </a:solidFill>
                <a:latin typeface="Calibri"/>
                <a:ea typeface="Calibri"/>
                <a:cs typeface="Calibri"/>
              </a:rPr>
              <a:t>01</a:t>
            </a:r>
          </a:p>
        </p:txBody>
      </p:sp>
      <p:sp>
        <p:nvSpPr>
          <p:cNvPr id="8" name="TextBox 7"/>
          <p:cNvSpPr txBox="1"/>
          <p:nvPr/>
        </p:nvSpPr>
        <p:spPr>
          <a:xfrm>
            <a:off x="2103120" y="2148840"/>
            <a:ext cx="8961120" cy="548640"/>
          </a:xfrm>
          <a:prstGeom prst="rect">
            <a:avLst/>
          </a:prstGeom>
          <a:noFill/>
        </p:spPr>
        <p:txBody>
          <a:bodyPr wrap="square" lIns="0" rIns="0" tIns="0" bIns="0"/>
          <a:lstStyle/>
          <a:p>
            <a:pPr algn="l">
              <a:spcBef>
                <a:spcPts val="0"/>
              </a:spcBef>
              <a:spcAft>
                <a:spcPts val="0"/>
              </a:spcAft>
            </a:pPr>
            <a:r>
              <a:rPr sz="2800" b="1" i="0" u="none">
                <a:solidFill>
                  <a:srgbClr val="1B2838"/>
                </a:solidFill>
                <a:latin typeface="Calibri"/>
                <a:ea typeface="Calibri"/>
                <a:cs typeface="Calibri"/>
              </a:rPr>
              <a:t>Una URL con HTTPS</a:t>
            </a:r>
          </a:p>
        </p:txBody>
      </p:sp>
      <p:sp>
        <p:nvSpPr>
          <p:cNvPr id="9" name="Rounded Rectangle 8"/>
          <p:cNvSpPr/>
          <p:nvPr/>
        </p:nvSpPr>
        <p:spPr>
          <a:xfrm>
            <a:off x="502920" y="2971800"/>
            <a:ext cx="11155680" cy="89611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72968"/>
            <a:ext cx="1188720" cy="502920"/>
          </a:xfrm>
          <a:prstGeom prst="rect">
            <a:avLst/>
          </a:prstGeom>
          <a:noFill/>
        </p:spPr>
        <p:txBody>
          <a:bodyPr wrap="square" lIns="0" rIns="0" tIns="0" bIns="0"/>
          <a:lstStyle/>
          <a:p>
            <a:pPr algn="l">
              <a:spcBef>
                <a:spcPts val="0"/>
              </a:spcBef>
              <a:spcAft>
                <a:spcPts val="0"/>
              </a:spcAft>
            </a:pPr>
            <a:r>
              <a:rPr sz="2400" b="1" i="0" u="none">
                <a:solidFill>
                  <a:srgbClr val="E87A00"/>
                </a:solidFill>
                <a:latin typeface="Calibri"/>
                <a:ea typeface="Calibri"/>
                <a:cs typeface="Calibri"/>
              </a:rPr>
              <a:t>02</a:t>
            </a:r>
          </a:p>
        </p:txBody>
      </p:sp>
      <p:sp>
        <p:nvSpPr>
          <p:cNvPr id="11" name="TextBox 10"/>
          <p:cNvSpPr txBox="1"/>
          <p:nvPr/>
        </p:nvSpPr>
        <p:spPr>
          <a:xfrm>
            <a:off x="2103120" y="3154680"/>
            <a:ext cx="8961120" cy="548640"/>
          </a:xfrm>
          <a:prstGeom prst="rect">
            <a:avLst/>
          </a:prstGeom>
          <a:noFill/>
        </p:spPr>
        <p:txBody>
          <a:bodyPr wrap="square" lIns="0" rIns="0" tIns="0" bIns="0"/>
          <a:lstStyle/>
          <a:p>
            <a:pPr algn="l">
              <a:spcBef>
                <a:spcPts val="0"/>
              </a:spcBef>
              <a:spcAft>
                <a:spcPts val="0"/>
              </a:spcAft>
            </a:pPr>
            <a:r>
              <a:rPr sz="2800" b="1" i="0" u="none">
                <a:solidFill>
                  <a:srgbClr val="1B2838"/>
                </a:solidFill>
                <a:latin typeface="Calibri"/>
                <a:ea typeface="Calibri"/>
                <a:cs typeface="Calibri"/>
              </a:rPr>
              <a:t>MySQL operado, con respaldo</a:t>
            </a:r>
          </a:p>
        </p:txBody>
      </p:sp>
      <p:sp>
        <p:nvSpPr>
          <p:cNvPr id="12" name="Rounded Rectangle 11"/>
          <p:cNvSpPr/>
          <p:nvPr/>
        </p:nvSpPr>
        <p:spPr>
          <a:xfrm>
            <a:off x="502920" y="3977639"/>
            <a:ext cx="11155680" cy="89611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178807"/>
            <a:ext cx="1188720" cy="502920"/>
          </a:xfrm>
          <a:prstGeom prst="rect">
            <a:avLst/>
          </a:prstGeom>
          <a:noFill/>
        </p:spPr>
        <p:txBody>
          <a:bodyPr wrap="square" lIns="0" rIns="0" tIns="0" bIns="0"/>
          <a:lstStyle/>
          <a:p>
            <a:pPr algn="l">
              <a:spcBef>
                <a:spcPts val="0"/>
              </a:spcBef>
              <a:spcAft>
                <a:spcPts val="0"/>
              </a:spcAft>
            </a:pPr>
            <a:r>
              <a:rPr sz="2400" b="1" i="0" u="none">
                <a:solidFill>
                  <a:srgbClr val="E87A00"/>
                </a:solidFill>
                <a:latin typeface="Calibri"/>
                <a:ea typeface="Calibri"/>
                <a:cs typeface="Calibri"/>
              </a:rPr>
              <a:t>03</a:t>
            </a:r>
          </a:p>
        </p:txBody>
      </p:sp>
      <p:sp>
        <p:nvSpPr>
          <p:cNvPr id="14" name="TextBox 13"/>
          <p:cNvSpPr txBox="1"/>
          <p:nvPr/>
        </p:nvSpPr>
        <p:spPr>
          <a:xfrm>
            <a:off x="2103120" y="4160520"/>
            <a:ext cx="8961120" cy="548640"/>
          </a:xfrm>
          <a:prstGeom prst="rect">
            <a:avLst/>
          </a:prstGeom>
          <a:noFill/>
        </p:spPr>
        <p:txBody>
          <a:bodyPr wrap="square" lIns="0" rIns="0" tIns="0" bIns="0"/>
          <a:lstStyle/>
          <a:p>
            <a:pPr algn="l">
              <a:spcBef>
                <a:spcPts val="0"/>
              </a:spcBef>
              <a:spcAft>
                <a:spcPts val="0"/>
              </a:spcAft>
            </a:pPr>
            <a:r>
              <a:rPr sz="2800" b="1" i="0" u="none">
                <a:solidFill>
                  <a:srgbClr val="1B2838"/>
                </a:solidFill>
                <a:latin typeface="Calibri"/>
                <a:ea typeface="Calibri"/>
                <a:cs typeface="Calibri"/>
              </a:rPr>
              <a:t>El archivo fuera de la tabla</a:t>
            </a:r>
          </a:p>
        </p:txBody>
      </p:sp>
      <p:sp>
        <p:nvSpPr>
          <p:cNvPr id="15" name="Rounded Rectangle 14"/>
          <p:cNvSpPr/>
          <p:nvPr/>
        </p:nvSpPr>
        <p:spPr>
          <a:xfrm>
            <a:off x="502920" y="4983480"/>
            <a:ext cx="11155680" cy="896112"/>
          </a:xfrm>
          <a:prstGeom prst="roundRect">
            <a:avLst>
              <a:gd name="adj" fmla="val 10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184648"/>
            <a:ext cx="1188720" cy="502920"/>
          </a:xfrm>
          <a:prstGeom prst="rect">
            <a:avLst/>
          </a:prstGeom>
          <a:noFill/>
        </p:spPr>
        <p:txBody>
          <a:bodyPr wrap="square" lIns="0" rIns="0" tIns="0" bIns="0"/>
          <a:lstStyle/>
          <a:p>
            <a:pPr algn="l">
              <a:spcBef>
                <a:spcPts val="0"/>
              </a:spcBef>
              <a:spcAft>
                <a:spcPts val="0"/>
              </a:spcAft>
            </a:pPr>
            <a:r>
              <a:rPr sz="2400" b="1" i="0" u="none">
                <a:solidFill>
                  <a:srgbClr val="E87A00"/>
                </a:solidFill>
                <a:latin typeface="Calibri"/>
                <a:ea typeface="Calibri"/>
                <a:cs typeface="Calibri"/>
              </a:rPr>
              <a:t>04</a:t>
            </a:r>
          </a:p>
        </p:txBody>
      </p:sp>
      <p:sp>
        <p:nvSpPr>
          <p:cNvPr id="17" name="TextBox 16"/>
          <p:cNvSpPr txBox="1"/>
          <p:nvPr/>
        </p:nvSpPr>
        <p:spPr>
          <a:xfrm>
            <a:off x="2103120" y="5166360"/>
            <a:ext cx="8961120" cy="548640"/>
          </a:xfrm>
          <a:prstGeom prst="rect">
            <a:avLst/>
          </a:prstGeom>
          <a:noFill/>
        </p:spPr>
        <p:txBody>
          <a:bodyPr wrap="square" lIns="0" rIns="0" tIns="0" bIns="0"/>
          <a:lstStyle/>
          <a:p>
            <a:pPr algn="l">
              <a:spcBef>
                <a:spcPts val="0"/>
              </a:spcBef>
              <a:spcAft>
                <a:spcPts val="0"/>
              </a:spcAft>
            </a:pPr>
            <a:r>
              <a:rPr sz="2800" b="1" i="0" u="none">
                <a:solidFill>
                  <a:srgbClr val="1B2838"/>
                </a:solidFill>
                <a:latin typeface="Calibri"/>
                <a:ea typeface="Calibri"/>
                <a:cs typeface="Calibri"/>
              </a:rPr>
              <a:t>Más copias si hay más peticiones</a:t>
            </a:r>
          </a:p>
        </p:txBody>
      </p:sp>
      <p:sp>
        <p:nvSpPr>
          <p:cNvPr id="18" name="TextBox 17"/>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9" name="TextBox 18"/>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5   ·   EL LÍMITE</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Se paga lo que sigue encendido</a:t>
            </a:r>
          </a:p>
        </p:txBody>
      </p:sp>
      <p:sp>
        <p:nvSpPr>
          <p:cNvPr id="6" name="TextBox 5"/>
          <p:cNvSpPr txBox="1"/>
          <p:nvPr/>
        </p:nvSpPr>
        <p:spPr>
          <a:xfrm>
            <a:off x="502920" y="1920240"/>
            <a:ext cx="3017520" cy="822960"/>
          </a:xfrm>
          <a:prstGeom prst="rect">
            <a:avLst/>
          </a:prstGeom>
          <a:noFill/>
        </p:spPr>
        <p:txBody>
          <a:bodyPr wrap="square" lIns="0" rIns="0" tIns="0" bIns="0"/>
          <a:lstStyle/>
          <a:p>
            <a:pPr algn="l">
              <a:spcBef>
                <a:spcPts val="0"/>
              </a:spcBef>
              <a:spcAft>
                <a:spcPts val="0"/>
              </a:spcAft>
            </a:pPr>
            <a:r>
              <a:rPr sz="2400" b="1" i="0" u="none">
                <a:solidFill>
                  <a:srgbClr val="E87A00"/>
                </a:solidFill>
                <a:latin typeface="Calibri"/>
                <a:ea typeface="Calibri"/>
                <a:cs typeface="Calibri"/>
              </a:rPr>
              <a:t>Fargate</a:t>
            </a:r>
          </a:p>
        </p:txBody>
      </p:sp>
      <p:sp>
        <p:nvSpPr>
          <p:cNvPr id="7" name="TextBox 6"/>
          <p:cNvSpPr txBox="1"/>
          <p:nvPr/>
        </p:nvSpPr>
        <p:spPr>
          <a:xfrm>
            <a:off x="3657600" y="1920240"/>
            <a:ext cx="7863840" cy="822960"/>
          </a:xfrm>
          <a:prstGeom prst="rect">
            <a:avLst/>
          </a:prstGeom>
          <a:noFill/>
        </p:spPr>
        <p:txBody>
          <a:bodyPr wrap="square" lIns="0" rIns="0" tIns="0" bIns="0"/>
          <a:lstStyle/>
          <a:p>
            <a:pPr algn="l">
              <a:spcBef>
                <a:spcPts val="0"/>
              </a:spcBef>
              <a:spcAft>
                <a:spcPts val="0"/>
              </a:spcAft>
            </a:pPr>
            <a:r>
              <a:rPr sz="2200" b="0" i="0" u="none">
                <a:solidFill>
                  <a:srgbClr val="1B2838"/>
                </a:solidFill>
                <a:latin typeface="Calibri"/>
                <a:ea typeface="Calibri"/>
                <a:cs typeface="Calibri"/>
              </a:rPr>
              <a:t>CPU y memoria mientras la tarea existe</a:t>
            </a:r>
          </a:p>
        </p:txBody>
      </p:sp>
      <p:sp>
        <p:nvSpPr>
          <p:cNvPr id="8" name="TextBox 7"/>
          <p:cNvSpPr txBox="1"/>
          <p:nvPr/>
        </p:nvSpPr>
        <p:spPr>
          <a:xfrm>
            <a:off x="502920" y="2971800"/>
            <a:ext cx="3017520" cy="822960"/>
          </a:xfrm>
          <a:prstGeom prst="rect">
            <a:avLst/>
          </a:prstGeom>
          <a:noFill/>
        </p:spPr>
        <p:txBody>
          <a:bodyPr wrap="square" lIns="0" rIns="0" tIns="0" bIns="0"/>
          <a:lstStyle/>
          <a:p>
            <a:pPr algn="l">
              <a:spcBef>
                <a:spcPts val="0"/>
              </a:spcBef>
              <a:spcAft>
                <a:spcPts val="0"/>
              </a:spcAft>
            </a:pPr>
            <a:r>
              <a:rPr sz="2400" b="1" i="0" u="none">
                <a:solidFill>
                  <a:srgbClr val="E87A00"/>
                </a:solidFill>
                <a:latin typeface="Calibri"/>
                <a:ea typeface="Calibri"/>
                <a:cs typeface="Calibri"/>
              </a:rPr>
              <a:t>RDS</a:t>
            </a:r>
          </a:p>
        </p:txBody>
      </p:sp>
      <p:sp>
        <p:nvSpPr>
          <p:cNvPr id="9" name="TextBox 8"/>
          <p:cNvSpPr txBox="1"/>
          <p:nvPr/>
        </p:nvSpPr>
        <p:spPr>
          <a:xfrm>
            <a:off x="3657600" y="2971800"/>
            <a:ext cx="7863840" cy="822960"/>
          </a:xfrm>
          <a:prstGeom prst="rect">
            <a:avLst/>
          </a:prstGeom>
          <a:noFill/>
        </p:spPr>
        <p:txBody>
          <a:bodyPr wrap="square" lIns="0" rIns="0" tIns="0" bIns="0"/>
          <a:lstStyle/>
          <a:p>
            <a:pPr algn="l">
              <a:spcBef>
                <a:spcPts val="0"/>
              </a:spcBef>
              <a:spcAft>
                <a:spcPts val="0"/>
              </a:spcAft>
            </a:pPr>
            <a:r>
              <a:rPr sz="2200" b="0" i="0" u="none">
                <a:solidFill>
                  <a:srgbClr val="1B2838"/>
                </a:solidFill>
                <a:latin typeface="Calibri"/>
                <a:ea typeface="Calibri"/>
                <a:cs typeface="Calibri"/>
              </a:rPr>
              <a:t>La hora de la instancia y el almacenamiento</a:t>
            </a:r>
          </a:p>
        </p:txBody>
      </p:sp>
      <p:sp>
        <p:nvSpPr>
          <p:cNvPr id="10" name="TextBox 9"/>
          <p:cNvSpPr txBox="1"/>
          <p:nvPr/>
        </p:nvSpPr>
        <p:spPr>
          <a:xfrm>
            <a:off x="502920" y="4023360"/>
            <a:ext cx="3017520" cy="822960"/>
          </a:xfrm>
          <a:prstGeom prst="rect">
            <a:avLst/>
          </a:prstGeom>
          <a:noFill/>
        </p:spPr>
        <p:txBody>
          <a:bodyPr wrap="square" lIns="0" rIns="0" tIns="0" bIns="0"/>
          <a:lstStyle/>
          <a:p>
            <a:pPr algn="l">
              <a:spcBef>
                <a:spcPts val="0"/>
              </a:spcBef>
              <a:spcAft>
                <a:spcPts val="0"/>
              </a:spcAft>
            </a:pPr>
            <a:r>
              <a:rPr sz="2400" b="1" i="0" u="none">
                <a:solidFill>
                  <a:srgbClr val="E87A00"/>
                </a:solidFill>
                <a:latin typeface="Calibri"/>
                <a:ea typeface="Calibri"/>
                <a:cs typeface="Calibri"/>
              </a:rPr>
              <a:t>S3</a:t>
            </a:r>
          </a:p>
        </p:txBody>
      </p:sp>
      <p:sp>
        <p:nvSpPr>
          <p:cNvPr id="11" name="TextBox 10"/>
          <p:cNvSpPr txBox="1"/>
          <p:nvPr/>
        </p:nvSpPr>
        <p:spPr>
          <a:xfrm>
            <a:off x="3657600" y="4023360"/>
            <a:ext cx="7863840" cy="822960"/>
          </a:xfrm>
          <a:prstGeom prst="rect">
            <a:avLst/>
          </a:prstGeom>
          <a:noFill/>
        </p:spPr>
        <p:txBody>
          <a:bodyPr wrap="square" lIns="0" rIns="0" tIns="0" bIns="0"/>
          <a:lstStyle/>
          <a:p>
            <a:pPr algn="l">
              <a:spcBef>
                <a:spcPts val="0"/>
              </a:spcBef>
              <a:spcAft>
                <a:spcPts val="0"/>
              </a:spcAft>
            </a:pPr>
            <a:r>
              <a:rPr sz="2200" b="0" i="0" u="none">
                <a:solidFill>
                  <a:srgbClr val="1B2838"/>
                </a:solidFill>
                <a:latin typeface="Calibri"/>
                <a:ea typeface="Calibri"/>
                <a:cs typeface="Calibri"/>
              </a:rPr>
              <a:t>Lo guardado, las solicitudes y el tráfico de salida</a:t>
            </a:r>
          </a:p>
        </p:txBody>
      </p:sp>
      <p:sp>
        <p:nvSpPr>
          <p:cNvPr id="12" name="TextBox 11"/>
          <p:cNvSpPr txBox="1"/>
          <p:nvPr/>
        </p:nvSpPr>
        <p:spPr>
          <a:xfrm>
            <a:off x="502920" y="5074920"/>
            <a:ext cx="3017520" cy="822960"/>
          </a:xfrm>
          <a:prstGeom prst="rect">
            <a:avLst/>
          </a:prstGeom>
          <a:noFill/>
        </p:spPr>
        <p:txBody>
          <a:bodyPr wrap="square" lIns="0" rIns="0" tIns="0" bIns="0"/>
          <a:lstStyle/>
          <a:p>
            <a:pPr algn="l">
              <a:spcBef>
                <a:spcPts val="0"/>
              </a:spcBef>
              <a:spcAft>
                <a:spcPts val="0"/>
              </a:spcAft>
            </a:pPr>
            <a:r>
              <a:rPr sz="2400" b="1" i="0" u="none">
                <a:solidFill>
                  <a:srgbClr val="E87A00"/>
                </a:solidFill>
                <a:latin typeface="Calibri"/>
                <a:ea typeface="Calibri"/>
                <a:cs typeface="Calibri"/>
              </a:rPr>
              <a:t>Cuenta nueva</a:t>
            </a:r>
          </a:p>
        </p:txBody>
      </p:sp>
      <p:sp>
        <p:nvSpPr>
          <p:cNvPr id="13" name="TextBox 12"/>
          <p:cNvSpPr txBox="1"/>
          <p:nvPr/>
        </p:nvSpPr>
        <p:spPr>
          <a:xfrm>
            <a:off x="3657600" y="5074920"/>
            <a:ext cx="7863840" cy="822960"/>
          </a:xfrm>
          <a:prstGeom prst="rect">
            <a:avLst/>
          </a:prstGeom>
          <a:noFill/>
        </p:spPr>
        <p:txBody>
          <a:bodyPr wrap="square" lIns="0" rIns="0" tIns="0" bIns="0"/>
          <a:lstStyle/>
          <a:p>
            <a:pPr algn="l">
              <a:spcBef>
                <a:spcPts val="0"/>
              </a:spcBef>
              <a:spcAft>
                <a:spcPts val="0"/>
              </a:spcAft>
            </a:pPr>
            <a:r>
              <a:rPr sz="2200" b="0" i="0" u="none">
                <a:solidFill>
                  <a:srgbClr val="1B2838"/>
                </a:solidFill>
                <a:latin typeface="Calibri"/>
                <a:ea typeface="Calibri"/>
                <a:cs typeface="Calibri"/>
              </a:rPr>
              <a:t>Créditos limitados. Lo olvidado, en plan de pago, se factura</a:t>
            </a:r>
          </a:p>
        </p:txBody>
      </p:sp>
      <p:sp>
        <p:nvSpPr>
          <p:cNvPr id="14" name="TextBox 13"/>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5" name="TextBox 14"/>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5   ·   EL LÍMITE</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Cuándo no conviene</a:t>
            </a:r>
          </a:p>
        </p:txBody>
      </p:sp>
      <p:sp>
        <p:nvSpPr>
          <p:cNvPr id="6" name="Rounded Rectangle 5"/>
          <p:cNvSpPr/>
          <p:nvPr/>
        </p:nvSpPr>
        <p:spPr>
          <a:xfrm>
            <a:off x="502920" y="1965960"/>
            <a:ext cx="5577840" cy="1874519"/>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l">
              <a:spcBef>
                <a:spcPts val="0"/>
              </a:spcBef>
              <a:spcAft>
                <a:spcPts val="0"/>
              </a:spcAft>
            </a:pPr>
            <a:r>
              <a:rPr sz="2200" b="1" i="0" u="none">
                <a:solidFill>
                  <a:srgbClr val="1B2838"/>
                </a:solidFill>
                <a:latin typeface="Calibri"/>
                <a:ea typeface="Calibri"/>
                <a:cs typeface="Calibri"/>
              </a:rPr>
              <a:t>La práctica vive y muere en una laptop</a:t>
            </a:r>
          </a:p>
          <a:p>
            <a:pPr algn="l">
              <a:spcBef>
                <a:spcPts val="800"/>
              </a:spcBef>
              <a:spcAft>
                <a:spcPts val="0"/>
              </a:spcAft>
            </a:pPr>
            <a:r>
              <a:rPr sz="1600" b="0" i="0" u="none">
                <a:solidFill>
                  <a:srgbClr val="3E4A57"/>
                </a:solidFill>
                <a:latin typeface="Calibri"/>
                <a:ea typeface="Calibri"/>
                <a:cs typeface="Calibri"/>
              </a:rPr>
              <a:t>Docker local llega antes y no abre una cuenta.</a:t>
            </a:r>
          </a:p>
        </p:txBody>
      </p:sp>
      <p:sp>
        <p:nvSpPr>
          <p:cNvPr id="7" name="Rounded Rectangle 6"/>
          <p:cNvSpPr/>
          <p:nvPr/>
        </p:nvSpPr>
        <p:spPr>
          <a:xfrm>
            <a:off x="6355080" y="1965960"/>
            <a:ext cx="5577840" cy="1874519"/>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l">
              <a:spcBef>
                <a:spcPts val="0"/>
              </a:spcBef>
              <a:spcAft>
                <a:spcPts val="0"/>
              </a:spcAft>
            </a:pPr>
            <a:r>
              <a:rPr sz="2200" b="1" i="0" u="none">
                <a:solidFill>
                  <a:srgbClr val="1B2838"/>
                </a:solidFill>
                <a:latin typeface="Calibri"/>
                <a:ea typeface="Calibri"/>
                <a:cs typeface="Calibri"/>
              </a:rPr>
              <a:t>Nadie va a mirar la factura</a:t>
            </a:r>
          </a:p>
          <a:p>
            <a:pPr algn="l">
              <a:spcBef>
                <a:spcPts val="800"/>
              </a:spcBef>
              <a:spcAft>
                <a:spcPts val="0"/>
              </a:spcAft>
            </a:pPr>
            <a:r>
              <a:rPr sz="1600" b="0" i="0" u="none">
                <a:solidFill>
                  <a:srgbClr val="3E4A57"/>
                </a:solidFill>
                <a:latin typeface="Calibri"/>
                <a:ea typeface="Calibri"/>
                <a:cs typeface="Calibri"/>
              </a:rPr>
              <a:t>El riesgo de costo pesa más que la práctica.</a:t>
            </a:r>
          </a:p>
        </p:txBody>
      </p:sp>
      <p:sp>
        <p:nvSpPr>
          <p:cNvPr id="8" name="Rounded Rectangle 7"/>
          <p:cNvSpPr/>
          <p:nvPr/>
        </p:nvSpPr>
        <p:spPr>
          <a:xfrm>
            <a:off x="502920" y="4023360"/>
            <a:ext cx="5577840" cy="1874519"/>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l">
              <a:spcBef>
                <a:spcPts val="0"/>
              </a:spcBef>
              <a:spcAft>
                <a:spcPts val="0"/>
              </a:spcAft>
            </a:pPr>
            <a:r>
              <a:rPr sz="2200" b="1" i="0" u="none">
                <a:solidFill>
                  <a:srgbClr val="1B2838"/>
                </a:solidFill>
                <a:latin typeface="Calibri"/>
                <a:ea typeface="Calibri"/>
                <a:cs typeface="Calibri"/>
              </a:rPr>
              <a:t>El campus prohíbe la nube pública</a:t>
            </a:r>
          </a:p>
          <a:p>
            <a:pPr algn="l">
              <a:spcBef>
                <a:spcPts val="800"/>
              </a:spcBef>
              <a:spcAft>
                <a:spcPts val="0"/>
              </a:spcAft>
            </a:pPr>
            <a:r>
              <a:rPr sz="1600" b="0" i="0" u="none">
                <a:solidFill>
                  <a:srgbClr val="3E4A57"/>
                </a:solidFill>
                <a:latin typeface="Calibri"/>
                <a:ea typeface="Calibri"/>
                <a:cs typeface="Calibri"/>
              </a:rPr>
              <a:t>La región de AWS no cambia esa regla.</a:t>
            </a:r>
          </a:p>
        </p:txBody>
      </p:sp>
      <p:sp>
        <p:nvSpPr>
          <p:cNvPr id="9" name="Rounded Rectangle 8"/>
          <p:cNvSpPr/>
          <p:nvPr/>
        </p:nvSpPr>
        <p:spPr>
          <a:xfrm>
            <a:off x="6355080" y="4023360"/>
            <a:ext cx="5577840" cy="1874519"/>
          </a:xfrm>
          <a:prstGeom prst="roundRect">
            <a:avLst>
              <a:gd name="adj" fmla="val 8000"/>
            </a:avLst>
          </a:prstGeom>
          <a:solidFill>
            <a:srgbClr val="FFFFFF"/>
          </a:solidFill>
          <a:ln w="15875">
            <a:solidFill>
              <a:srgbClr val="E4DDD2"/>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l">
              <a:spcBef>
                <a:spcPts val="0"/>
              </a:spcBef>
              <a:spcAft>
                <a:spcPts val="0"/>
              </a:spcAft>
            </a:pPr>
            <a:r>
              <a:rPr sz="2200" b="1" i="0" u="none">
                <a:solidFill>
                  <a:srgbClr val="1B2838"/>
                </a:solidFill>
                <a:latin typeface="Calibri"/>
                <a:ea typeface="Calibri"/>
                <a:cs typeface="Calibri"/>
              </a:rPr>
              <a:t>Todavía no hay una API escrita</a:t>
            </a:r>
          </a:p>
          <a:p>
            <a:pPr algn="l">
              <a:spcBef>
                <a:spcPts val="800"/>
              </a:spcBef>
              <a:spcAft>
                <a:spcPts val="0"/>
              </a:spcAft>
            </a:pPr>
            <a:r>
              <a:rPr sz="1600" b="0" i="0" u="none">
                <a:solidFill>
                  <a:srgbClr val="3E4A57"/>
                </a:solidFill>
                <a:latin typeface="Calibri"/>
                <a:ea typeface="Calibri"/>
                <a:cs typeface="Calibri"/>
              </a:rPr>
              <a:t>AWS corre el servidor que ya existe.</a:t>
            </a:r>
          </a:p>
        </p:txBody>
      </p:sp>
      <p:sp>
        <p:nvSpPr>
          <p:cNvPr id="10" name="TextBox 9"/>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1" name="TextBox 10"/>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6   ·   DEMO</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El canal oficial sí tiene video</a:t>
            </a:r>
          </a:p>
        </p:txBody>
      </p:sp>
      <p:sp>
        <p:nvSpPr>
          <p:cNvPr id="6" name="Rounded Rectangle 5"/>
          <p:cNvSpPr/>
          <p:nvPr/>
        </p:nvSpPr>
        <p:spPr>
          <a:xfrm>
            <a:off x="502920" y="1874519"/>
            <a:ext cx="11155680" cy="2240280"/>
          </a:xfrm>
          <a:prstGeom prst="roundRect">
            <a:avLst>
              <a:gd name="adj" fmla="val 6000"/>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10607040" cy="329184"/>
          </a:xfrm>
          <a:prstGeom prst="rect">
            <a:avLst/>
          </a:prstGeom>
          <a:noFill/>
        </p:spPr>
        <p:txBody>
          <a:bodyPr wrap="square" lIns="0" rIns="0" tIns="0" bIns="0"/>
          <a:lstStyle/>
          <a:p>
            <a:pPr algn="ctr">
              <a:spcBef>
                <a:spcPts val="0"/>
              </a:spcBef>
              <a:spcAft>
                <a:spcPts val="0"/>
              </a:spcAft>
            </a:pPr>
            <a:r>
              <a:rPr sz="1600" b="1" i="0" u="none">
                <a:solidFill>
                  <a:srgbClr val="E87A00"/>
                </a:solidFill>
                <a:latin typeface="Calibri"/>
                <a:ea typeface="Calibri"/>
                <a:cs typeface="Calibri"/>
              </a:rPr>
              <a:t>2 min  45 s     ·     cabe en el límite de 3 minutos</a:t>
            </a:r>
          </a:p>
        </p:txBody>
      </p:sp>
      <p:sp>
        <p:nvSpPr>
          <p:cNvPr id="8" name="TextBox 7"/>
          <p:cNvSpPr txBox="1"/>
          <p:nvPr/>
        </p:nvSpPr>
        <p:spPr>
          <a:xfrm>
            <a:off x="777240" y="2359152"/>
            <a:ext cx="10607040" cy="1051560"/>
          </a:xfrm>
          <a:prstGeom prst="rect">
            <a:avLst/>
          </a:prstGeom>
          <a:noFill/>
        </p:spPr>
        <p:txBody>
          <a:bodyPr wrap="square" lIns="0" rIns="0" tIns="0" bIns="0"/>
          <a:lstStyle/>
          <a:p>
            <a:pPr algn="ctr">
              <a:spcBef>
                <a:spcPts val="0"/>
              </a:spcBef>
              <a:spcAft>
                <a:spcPts val="0"/>
              </a:spcAft>
            </a:pPr>
            <a:r>
              <a:rPr sz="2600" b="1" i="0" u="none">
                <a:solidFill>
                  <a:srgbClr val="FFFFFF"/>
                </a:solidFill>
                <a:latin typeface="Calibri"/>
                <a:ea typeface="Calibri"/>
                <a:cs typeface="Calibri"/>
              </a:rPr>
              <a:t>Running Your Startup's Sign Up Form</a:t>
            </a:r>
          </a:p>
          <a:p>
            <a:pPr algn="ctr">
              <a:spcBef>
                <a:spcPts val="0"/>
              </a:spcBef>
              <a:spcAft>
                <a:spcPts val="0"/>
              </a:spcAft>
            </a:pPr>
            <a:r>
              <a:rPr sz="2600" b="1" i="0" u="none">
                <a:solidFill>
                  <a:srgbClr val="FFFFFF"/>
                </a:solidFill>
                <a:latin typeface="Calibri"/>
                <a:ea typeface="Calibri"/>
                <a:cs typeface="Calibri"/>
              </a:rPr>
              <a:t>on AWS Elastic Beanstalk: Part 1</a:t>
            </a:r>
          </a:p>
        </p:txBody>
      </p:sp>
      <p:sp>
        <p:nvSpPr>
          <p:cNvPr id="9" name="TextBox 8"/>
          <p:cNvSpPr txBox="1"/>
          <p:nvPr/>
        </p:nvSpPr>
        <p:spPr>
          <a:xfrm>
            <a:off x="777240" y="3566160"/>
            <a:ext cx="10607040" cy="365760"/>
          </a:xfrm>
          <a:prstGeom prst="rect">
            <a:avLst/>
          </a:prstGeom>
          <a:noFill/>
        </p:spPr>
        <p:txBody>
          <a:bodyPr wrap="square" lIns="0" rIns="0" tIns="0" bIns="0"/>
          <a:lstStyle/>
          <a:p>
            <a:pPr algn="ctr">
              <a:spcBef>
                <a:spcPts val="0"/>
              </a:spcBef>
              <a:spcAft>
                <a:spcPts val="0"/>
              </a:spcAft>
            </a:pPr>
            <a:r>
              <a:rPr sz="1800" b="0" i="0" u="sng">
                <a:solidFill>
                  <a:srgbClr val="F0C27A"/>
                </a:solidFill>
                <a:latin typeface="Calibri"/>
                <a:ea typeface="Calibri"/>
                <a:cs typeface="Calibri"/>
                <a:hlinkClick r:id="rId2"/>
              </a:rPr>
              <a:t>youtube.com/watch?v=rsg4YI4mljg</a:t>
            </a:r>
          </a:p>
        </p:txBody>
      </p:sp>
      <p:sp>
        <p:nvSpPr>
          <p:cNvPr id="10" name="TextBox 9"/>
          <p:cNvSpPr txBox="1"/>
          <p:nvPr/>
        </p:nvSpPr>
        <p:spPr>
          <a:xfrm>
            <a:off x="502920" y="4297680"/>
            <a:ext cx="11155680" cy="1737360"/>
          </a:xfrm>
          <a:prstGeom prst="rect">
            <a:avLst/>
          </a:prstGeom>
          <a:noFill/>
        </p:spPr>
        <p:txBody>
          <a:bodyPr wrap="square" lIns="0" rIns="0" tIns="0" bIns="0"/>
          <a:lstStyle/>
          <a:p>
            <a:pPr algn="l">
              <a:spcBef>
                <a:spcPts val="0"/>
              </a:spcBef>
              <a:spcAft>
                <a:spcPts val="0"/>
              </a:spcAft>
            </a:pPr>
            <a:r>
              <a:rPr sz="1800" b="0" i="0" u="none">
                <a:solidFill>
                  <a:srgbClr val="1A1F26"/>
                </a:solidFill>
                <a:latin typeface="Calibri"/>
                <a:ea typeface="Calibri"/>
                <a:cs typeface="Calibri"/>
              </a:rPr>
              <a:t>Canal Amazon Web Services. Lo enlaza el blog de AWS Startups.</a:t>
            </a:r>
          </a:p>
          <a:p>
            <a:pPr algn="l">
              <a:spcBef>
                <a:spcPts val="0"/>
              </a:spcBef>
              <a:spcAft>
                <a:spcPts val="0"/>
              </a:spcAft>
            </a:pPr>
            <a:r>
              <a:rPr sz="1800" b="0" i="0" u="none">
                <a:solidFill>
                  <a:srgbClr val="1A1F26"/>
                </a:solidFill>
                <a:latin typeface="Calibri"/>
                <a:ea typeface="Calibri"/>
                <a:cs typeface="Calibri"/>
              </a:rPr>
              <a:t>La consola es de 2013: muestra la idea, no los clics de hoy.</a:t>
            </a:r>
          </a:p>
          <a:p>
            <a:pPr algn="l">
              <a:spcBef>
                <a:spcPts val="800"/>
              </a:spcBef>
              <a:spcAft>
                <a:spcPts val="0"/>
              </a:spcAft>
            </a:pPr>
            <a:r>
              <a:rPr sz="1800" b="0" i="0" u="none">
                <a:solidFill>
                  <a:srgbClr val="3E4A57"/>
                </a:solidFill>
                <a:latin typeface="Calibri"/>
                <a:ea typeface="Calibri"/>
                <a:cs typeface="Calibri"/>
              </a:rPr>
              <a:t>What is AWS? dura 3:11 y se pasa once segundos.</a:t>
            </a:r>
          </a:p>
          <a:p>
            <a:pPr algn="l">
              <a:spcBef>
                <a:spcPts val="0"/>
              </a:spcBef>
              <a:spcAft>
                <a:spcPts val="0"/>
              </a:spcAft>
            </a:pPr>
            <a:r>
              <a:rPr sz="1600" b="0" i="0" u="sng">
                <a:solidFill>
                  <a:srgbClr val="0B3D91"/>
                </a:solidFill>
                <a:latin typeface="Calibri"/>
                <a:ea typeface="Calibri"/>
                <a:cs typeface="Calibri"/>
                <a:hlinkClick r:id="rId3"/>
              </a:rPr>
              <a:t>youtube.com/watch?v=a9__D53WsUs</a:t>
            </a:r>
          </a:p>
        </p:txBody>
      </p:sp>
      <p:sp>
        <p:nvSpPr>
          <p:cNvPr id="11" name="TextBox 10"/>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2" name="TextBox 11"/>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8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lIns="0" rIns="0" tIns="0" bIns="0"/>
          <a:lstStyle/>
          <a:p>
            <a:pPr algn="l">
              <a:spcBef>
                <a:spcPts val="0"/>
              </a:spcBef>
              <a:spcAft>
                <a:spcPts val="0"/>
              </a:spcAft>
            </a:pPr>
            <a:r>
              <a:rPr sz="1300" b="1" i="0" u="none">
                <a:solidFill>
                  <a:srgbClr val="E87A00"/>
                </a:solidFill>
                <a:latin typeface="Calibri"/>
                <a:ea typeface="Calibri"/>
                <a:cs typeface="Calibri"/>
              </a:rPr>
              <a:t>6   ·   FUENTES</a:t>
            </a:r>
          </a:p>
        </p:txBody>
      </p:sp>
      <p:sp>
        <p:nvSpPr>
          <p:cNvPr id="5" name="TextBox 4"/>
          <p:cNvSpPr txBox="1"/>
          <p:nvPr/>
        </p:nvSpPr>
        <p:spPr>
          <a:xfrm>
            <a:off x="502920" y="530352"/>
            <a:ext cx="11155680" cy="1051560"/>
          </a:xfrm>
          <a:prstGeom prst="rect">
            <a:avLst/>
          </a:prstGeom>
          <a:noFill/>
        </p:spPr>
        <p:txBody>
          <a:bodyPr wrap="square" lIns="0" rIns="0" tIns="0" bIns="0"/>
          <a:lstStyle/>
          <a:p>
            <a:pPr algn="l">
              <a:spcBef>
                <a:spcPts val="0"/>
              </a:spcBef>
              <a:spcAft>
                <a:spcPts val="0"/>
              </a:spcAft>
            </a:pPr>
            <a:r>
              <a:rPr sz="3600" b="1" i="0" u="none">
                <a:solidFill>
                  <a:srgbClr val="1B2838"/>
                </a:solidFill>
                <a:latin typeface="Calibri"/>
                <a:ea typeface="Calibri"/>
                <a:cs typeface="Calibri"/>
              </a:rPr>
              <a:t>Documentación de AWS</a:t>
            </a:r>
          </a:p>
        </p:txBody>
      </p:sp>
      <p:sp>
        <p:nvSpPr>
          <p:cNvPr id="6" name="TextBox 5"/>
          <p:cNvSpPr txBox="1"/>
          <p:nvPr/>
        </p:nvSpPr>
        <p:spPr>
          <a:xfrm>
            <a:off x="502920" y="1828800"/>
            <a:ext cx="11155680" cy="347472"/>
          </a:xfrm>
          <a:prstGeom prst="rect">
            <a:avLst/>
          </a:prstGeom>
          <a:noFill/>
        </p:spPr>
        <p:txBody>
          <a:bodyPr wrap="square" lIns="0" rIns="0" tIns="0" bIns="0"/>
          <a:lstStyle/>
          <a:p>
            <a:pPr algn="l">
              <a:spcBef>
                <a:spcPts val="0"/>
              </a:spcBef>
              <a:spcAft>
                <a:spcPts val="0"/>
              </a:spcAft>
            </a:pPr>
            <a:r>
              <a:rPr sz="2200" b="1" i="0" u="none">
                <a:solidFill>
                  <a:srgbClr val="1B2838"/>
                </a:solidFill>
                <a:latin typeface="Calibri"/>
                <a:ea typeface="Calibri"/>
                <a:cs typeface="Calibri"/>
              </a:rPr>
              <a:t>Overview of Amazon Web Services</a:t>
            </a:r>
          </a:p>
        </p:txBody>
      </p:sp>
      <p:sp>
        <p:nvSpPr>
          <p:cNvPr id="7" name="TextBox 6"/>
          <p:cNvSpPr txBox="1"/>
          <p:nvPr/>
        </p:nvSpPr>
        <p:spPr>
          <a:xfrm>
            <a:off x="502920" y="2157984"/>
            <a:ext cx="11155680" cy="329184"/>
          </a:xfrm>
          <a:prstGeom prst="rect">
            <a:avLst/>
          </a:prstGeom>
          <a:noFill/>
        </p:spPr>
        <p:txBody>
          <a:bodyPr wrap="square" lIns="0" rIns="0" tIns="0" bIns="0"/>
          <a:lstStyle/>
          <a:p>
            <a:pPr algn="l">
              <a:spcBef>
                <a:spcPts val="0"/>
              </a:spcBef>
              <a:spcAft>
                <a:spcPts val="0"/>
              </a:spcAft>
            </a:pPr>
            <a:r>
              <a:rPr sz="1300" b="0" i="0" u="sng">
                <a:solidFill>
                  <a:srgbClr val="0B3D91"/>
                </a:solidFill>
                <a:latin typeface="Calibri"/>
                <a:ea typeface="Calibri"/>
                <a:cs typeface="Calibri"/>
                <a:hlinkClick r:id="rId2"/>
              </a:rPr>
              <a:t>Whitepaper, 2 de junio de 2026   ·   docs.aws.amazon.com/whitepapers/latest/aws-overview/what-is-cloud-computing.html</a:t>
            </a:r>
          </a:p>
        </p:txBody>
      </p:sp>
      <p:sp>
        <p:nvSpPr>
          <p:cNvPr id="8" name="TextBox 7"/>
          <p:cNvSpPr txBox="1"/>
          <p:nvPr/>
        </p:nvSpPr>
        <p:spPr>
          <a:xfrm>
            <a:off x="502920" y="2788920"/>
            <a:ext cx="11155680" cy="347472"/>
          </a:xfrm>
          <a:prstGeom prst="rect">
            <a:avLst/>
          </a:prstGeom>
          <a:noFill/>
        </p:spPr>
        <p:txBody>
          <a:bodyPr wrap="square" lIns="0" rIns="0" tIns="0" bIns="0"/>
          <a:lstStyle/>
          <a:p>
            <a:pPr algn="l">
              <a:spcBef>
                <a:spcPts val="0"/>
              </a:spcBef>
              <a:spcAft>
                <a:spcPts val="0"/>
              </a:spcAft>
            </a:pPr>
            <a:r>
              <a:rPr sz="2200" b="1" i="0" u="none">
                <a:solidFill>
                  <a:srgbClr val="1B2838"/>
                </a:solidFill>
                <a:latin typeface="Calibri"/>
                <a:ea typeface="Calibri"/>
                <a:cs typeface="Calibri"/>
              </a:rPr>
              <a:t>Amazon RDS for MySQL</a:t>
            </a:r>
          </a:p>
        </p:txBody>
      </p:sp>
      <p:sp>
        <p:nvSpPr>
          <p:cNvPr id="9" name="TextBox 8"/>
          <p:cNvSpPr txBox="1"/>
          <p:nvPr/>
        </p:nvSpPr>
        <p:spPr>
          <a:xfrm>
            <a:off x="502920" y="3118103"/>
            <a:ext cx="11155680" cy="329184"/>
          </a:xfrm>
          <a:prstGeom prst="rect">
            <a:avLst/>
          </a:prstGeom>
          <a:noFill/>
        </p:spPr>
        <p:txBody>
          <a:bodyPr wrap="square" lIns="0" rIns="0" tIns="0" bIns="0"/>
          <a:lstStyle/>
          <a:p>
            <a:pPr algn="l">
              <a:spcBef>
                <a:spcPts val="0"/>
              </a:spcBef>
              <a:spcAft>
                <a:spcPts val="0"/>
              </a:spcAft>
            </a:pPr>
            <a:r>
              <a:rPr sz="1300" b="0" i="0" u="sng">
                <a:solidFill>
                  <a:srgbClr val="0B3D91"/>
                </a:solidFill>
                <a:latin typeface="Calibri"/>
                <a:ea typeface="Calibri"/>
                <a:cs typeface="Calibri"/>
                <a:hlinkClick r:id="rId3"/>
              </a:rPr>
              <a:t>Guía del usuario   ·   docs.aws.amazon.com/AmazonRDS/latest/UserGuide/CHAP_MySQL.html</a:t>
            </a:r>
          </a:p>
        </p:txBody>
      </p:sp>
      <p:sp>
        <p:nvSpPr>
          <p:cNvPr id="10" name="TextBox 9"/>
          <p:cNvSpPr txBox="1"/>
          <p:nvPr/>
        </p:nvSpPr>
        <p:spPr>
          <a:xfrm>
            <a:off x="502920" y="3749039"/>
            <a:ext cx="11155680" cy="347472"/>
          </a:xfrm>
          <a:prstGeom prst="rect">
            <a:avLst/>
          </a:prstGeom>
          <a:noFill/>
        </p:spPr>
        <p:txBody>
          <a:bodyPr wrap="square" lIns="0" rIns="0" tIns="0" bIns="0"/>
          <a:lstStyle/>
          <a:p>
            <a:pPr algn="l">
              <a:spcBef>
                <a:spcPts val="0"/>
              </a:spcBef>
              <a:spcAft>
                <a:spcPts val="0"/>
              </a:spcAft>
            </a:pPr>
            <a:r>
              <a:rPr sz="2200" b="1" i="0" u="none">
                <a:solidFill>
                  <a:srgbClr val="1B2838"/>
                </a:solidFill>
                <a:latin typeface="Calibri"/>
                <a:ea typeface="Calibri"/>
                <a:cs typeface="Calibri"/>
              </a:rPr>
              <a:t>What is Amazon S3?</a:t>
            </a:r>
          </a:p>
        </p:txBody>
      </p:sp>
      <p:sp>
        <p:nvSpPr>
          <p:cNvPr id="11" name="TextBox 10"/>
          <p:cNvSpPr txBox="1"/>
          <p:nvPr/>
        </p:nvSpPr>
        <p:spPr>
          <a:xfrm>
            <a:off x="502920" y="4078224"/>
            <a:ext cx="11155680" cy="329184"/>
          </a:xfrm>
          <a:prstGeom prst="rect">
            <a:avLst/>
          </a:prstGeom>
          <a:noFill/>
        </p:spPr>
        <p:txBody>
          <a:bodyPr wrap="square" lIns="0" rIns="0" tIns="0" bIns="0"/>
          <a:lstStyle/>
          <a:p>
            <a:pPr algn="l">
              <a:spcBef>
                <a:spcPts val="0"/>
              </a:spcBef>
              <a:spcAft>
                <a:spcPts val="0"/>
              </a:spcAft>
            </a:pPr>
            <a:r>
              <a:rPr sz="1300" b="0" i="0" u="sng">
                <a:solidFill>
                  <a:srgbClr val="0B3D91"/>
                </a:solidFill>
                <a:latin typeface="Calibri"/>
                <a:ea typeface="Calibri"/>
                <a:cs typeface="Calibri"/>
                <a:hlinkClick r:id="rId4"/>
              </a:rPr>
              <a:t>Guía del usuario   ·   docs.aws.amazon.com/AmazonS3/latest/userguide/Welcome.html</a:t>
            </a:r>
          </a:p>
        </p:txBody>
      </p:sp>
      <p:sp>
        <p:nvSpPr>
          <p:cNvPr id="12" name="TextBox 11"/>
          <p:cNvSpPr txBox="1"/>
          <p:nvPr/>
        </p:nvSpPr>
        <p:spPr>
          <a:xfrm>
            <a:off x="502920" y="4709160"/>
            <a:ext cx="11155680" cy="347472"/>
          </a:xfrm>
          <a:prstGeom prst="rect">
            <a:avLst/>
          </a:prstGeom>
          <a:noFill/>
        </p:spPr>
        <p:txBody>
          <a:bodyPr wrap="square" lIns="0" rIns="0" tIns="0" bIns="0"/>
          <a:lstStyle/>
          <a:p>
            <a:pPr algn="l">
              <a:spcBef>
                <a:spcPts val="0"/>
              </a:spcBef>
              <a:spcAft>
                <a:spcPts val="0"/>
              </a:spcAft>
            </a:pPr>
            <a:r>
              <a:rPr sz="2200" b="1" i="0" u="none">
                <a:solidFill>
                  <a:srgbClr val="1B2838"/>
                </a:solidFill>
                <a:latin typeface="Calibri"/>
                <a:ea typeface="Calibri"/>
                <a:cs typeface="Calibri"/>
              </a:rPr>
              <a:t>Amazon ECS Express Mode</a:t>
            </a:r>
          </a:p>
        </p:txBody>
      </p:sp>
      <p:sp>
        <p:nvSpPr>
          <p:cNvPr id="13" name="TextBox 12"/>
          <p:cNvSpPr txBox="1"/>
          <p:nvPr/>
        </p:nvSpPr>
        <p:spPr>
          <a:xfrm>
            <a:off x="502920" y="5038344"/>
            <a:ext cx="11155680" cy="329184"/>
          </a:xfrm>
          <a:prstGeom prst="rect">
            <a:avLst/>
          </a:prstGeom>
          <a:noFill/>
        </p:spPr>
        <p:txBody>
          <a:bodyPr wrap="square" lIns="0" rIns="0" tIns="0" bIns="0"/>
          <a:lstStyle/>
          <a:p>
            <a:pPr algn="l">
              <a:spcBef>
                <a:spcPts val="0"/>
              </a:spcBef>
              <a:spcAft>
                <a:spcPts val="0"/>
              </a:spcAft>
            </a:pPr>
            <a:r>
              <a:rPr sz="1300" b="0" i="0" u="sng">
                <a:solidFill>
                  <a:srgbClr val="0B3D91"/>
                </a:solidFill>
                <a:latin typeface="Calibri"/>
                <a:ea typeface="Calibri"/>
                <a:cs typeface="Calibri"/>
                <a:hlinkClick r:id="rId5"/>
              </a:rPr>
              <a:t>Guía para desarrolladores   ·   docs.aws.amazon.com/AmazonECS/latest/developerguide/express-service-overview.html</a:t>
            </a:r>
          </a:p>
        </p:txBody>
      </p:sp>
      <p:sp>
        <p:nvSpPr>
          <p:cNvPr id="14" name="TextBox 13"/>
          <p:cNvSpPr txBox="1"/>
          <p:nvPr/>
        </p:nvSpPr>
        <p:spPr>
          <a:xfrm>
            <a:off x="502920" y="5760720"/>
            <a:ext cx="11155680" cy="502920"/>
          </a:xfrm>
          <a:prstGeom prst="rect">
            <a:avLst/>
          </a:prstGeom>
          <a:noFill/>
        </p:spPr>
        <p:txBody>
          <a:bodyPr wrap="square" lIns="0" rIns="0" tIns="0" bIns="0"/>
          <a:lstStyle/>
          <a:p>
            <a:pPr algn="l">
              <a:spcBef>
                <a:spcPts val="0"/>
              </a:spcBef>
              <a:spcAft>
                <a:spcPts val="0"/>
              </a:spcAft>
            </a:pPr>
            <a:r>
              <a:rPr sz="2000" b="1" i="0" u="none">
                <a:solidFill>
                  <a:srgbClr val="1B2838"/>
                </a:solidFill>
                <a:latin typeface="Calibri"/>
                <a:ea typeface="Calibri"/>
                <a:cs typeface="Calibri"/>
              </a:rPr>
              <a:t>AWS publica la API que el equipo ya escribió.</a:t>
            </a:r>
          </a:p>
        </p:txBody>
      </p:sp>
      <p:sp>
        <p:nvSpPr>
          <p:cNvPr id="15" name="TextBox 14"/>
          <p:cNvSpPr txBox="1"/>
          <p:nvPr/>
        </p:nvSpPr>
        <p:spPr>
          <a:xfrm>
            <a:off x="502920" y="6473952"/>
            <a:ext cx="7772400" cy="256032"/>
          </a:xfrm>
          <a:prstGeom prst="rect">
            <a:avLst/>
          </a:prstGeom>
          <a:noFill/>
        </p:spPr>
        <p:txBody>
          <a:bodyPr wrap="square" lIns="0" rIns="0" tIns="0" bIns="0"/>
          <a:lstStyle/>
          <a:p>
            <a:pPr algn="l">
              <a:spcBef>
                <a:spcPts val="0"/>
              </a:spcBef>
              <a:spcAft>
                <a:spcPts val="0"/>
              </a:spcAft>
            </a:pPr>
            <a:r>
              <a:rPr sz="1200" b="0" i="0" u="none">
                <a:solidFill>
                  <a:srgbClr val="3E4A57"/>
                </a:solidFill>
                <a:latin typeface="Calibri"/>
                <a:ea typeface="Calibri"/>
                <a:cs typeface="Calibri"/>
              </a:rPr>
              <a:t>Equipo 4   ·   Amazon Web Services</a:t>
            </a:r>
          </a:p>
        </p:txBody>
      </p:sp>
      <p:sp>
        <p:nvSpPr>
          <p:cNvPr id="16" name="TextBox 15"/>
          <p:cNvSpPr txBox="1"/>
          <p:nvPr/>
        </p:nvSpPr>
        <p:spPr>
          <a:xfrm>
            <a:off x="10332720" y="6473952"/>
            <a:ext cx="1371600" cy="256032"/>
          </a:xfrm>
          <a:prstGeom prst="rect">
            <a:avLst/>
          </a:prstGeom>
          <a:noFill/>
        </p:spPr>
        <p:txBody>
          <a:bodyPr wrap="square" lIns="0" rIns="0" tIns="0" bIns="0"/>
          <a:lstStyle/>
          <a:p>
            <a:pPr algn="r">
              <a:spcBef>
                <a:spcPts val="0"/>
              </a:spcBef>
              <a:spcAft>
                <a:spcPts val="0"/>
              </a:spcAft>
            </a:pPr>
            <a:r>
              <a:rPr sz="1200" b="1" i="0" u="none">
                <a:solidFill>
                  <a:srgbClr val="E87A00"/>
                </a:solidFill>
                <a:latin typeface="Calibri"/>
                <a:ea typeface="Calibri"/>
                <a:cs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Equipo 4 · AWS · Servicios en la nube para la API</dc:title>
  <dc:subject>Fundamentos de Arquitectura de Software y Desarrollo Backend · Unidad II</dc:subject>
  <dc:creator>David Alonso Romero Medina, Roberto Balmes Solis, Luis Enrique Ramos Díaz</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Exposición</cp:category>
</cp:coreProperties>
</file>